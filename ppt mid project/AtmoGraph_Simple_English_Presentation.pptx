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fe1e8bed6204bde" Type="http://schemas.openxmlformats.org/officeDocument/2006/relationships/extended-properties" Target="docProps/app.xml"/><Relationship Id="R7204b49054d34f2f" Type="http://schemas.openxmlformats.org/package/2006/relationships/metadata/core-properties" Target="docProps/core.xml"/><Relationship Id="Rad5d03fe2989451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919eeecf984910"/>
    <p:sldMasterId xmlns:r="http://schemas.openxmlformats.org/officeDocument/2006/relationships" id="2147483660" r:id="R3d6077b342a24b0c"/>
  </p:sldMasterIdLst>
  <p:notesMasterIdLst>
    <p:notesMasterId xmlns:r="http://schemas.openxmlformats.org/officeDocument/2006/relationships" r:id="R2b86c8c471bc46db"/>
  </p:notesMasterIdLst>
  <p:sldIdLst>
    <p:sldId xmlns:r="http://schemas.openxmlformats.org/officeDocument/2006/relationships" id="256" r:id="R3910ab3fd8884ec4"/>
    <p:sldId xmlns:r="http://schemas.openxmlformats.org/officeDocument/2006/relationships" id="257" r:id="Rf6859ac523804fe9"/>
    <p:sldId xmlns:r="http://schemas.openxmlformats.org/officeDocument/2006/relationships" id="258" r:id="Ra2204ed9c364441b"/>
    <p:sldId xmlns:r="http://schemas.openxmlformats.org/officeDocument/2006/relationships" id="259" r:id="Rdb3b09f9030e4e21"/>
    <p:sldId xmlns:r="http://schemas.openxmlformats.org/officeDocument/2006/relationships" id="260" r:id="R9d7abdfbf71f478f"/>
    <p:sldId xmlns:r="http://schemas.openxmlformats.org/officeDocument/2006/relationships" id="261" r:id="Rf7e581a2d37e4720"/>
    <p:sldId xmlns:r="http://schemas.openxmlformats.org/officeDocument/2006/relationships" id="262" r:id="Rad58cea8913943b5"/>
    <p:sldId xmlns:r="http://schemas.openxmlformats.org/officeDocument/2006/relationships" id="263" r:id="R6e7db39f92034e63"/>
    <p:sldId xmlns:r="http://schemas.openxmlformats.org/officeDocument/2006/relationships" id="264" r:id="R4cf02f1cec8b4bb2"/>
    <p:sldId xmlns:r="http://schemas.openxmlformats.org/officeDocument/2006/relationships" id="265" r:id="R76f537d1ed1d4e35"/>
    <p:sldId xmlns:r="http://schemas.openxmlformats.org/officeDocument/2006/relationships" id="266" r:id="R4c7c7bc6cd3a412e"/>
    <p:sldId xmlns:r="http://schemas.openxmlformats.org/officeDocument/2006/relationships" id="267" r:id="R1d5e746cb98448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17e7c6bcc1d94186" Type="http://schemas.openxmlformats.org/officeDocument/2006/relationships/theme" Target="theme/theme1.xml"/><Relationship Id="R1d5e746cb984486a" Type="http://schemas.openxmlformats.org/officeDocument/2006/relationships/slide" Target="slides/slide12.xml"/><Relationship Id="R2b86c8c471bc46db" Type="http://schemas.openxmlformats.org/officeDocument/2006/relationships/notesMaster" Target="notesMasters/notesMaster1.xml"/><Relationship Id="R3910ab3fd8884ec4" Type="http://schemas.openxmlformats.org/officeDocument/2006/relationships/slide" Target="slides/slide1.xml"/><Relationship Id="R3d6077b342a24b0c" Type="http://schemas.openxmlformats.org/officeDocument/2006/relationships/slideMaster" Target="slideMasters/slideMaster2.xml"/><Relationship Id="R4c7c7bc6cd3a412e" Type="http://schemas.openxmlformats.org/officeDocument/2006/relationships/slide" Target="slides/slide11.xml"/><Relationship Id="R4cf02f1cec8b4bb2" Type="http://schemas.openxmlformats.org/officeDocument/2006/relationships/slide" Target="slides/slide9.xml"/><Relationship Id="R6e7db39f92034e63" Type="http://schemas.openxmlformats.org/officeDocument/2006/relationships/slide" Target="slides/slide8.xml"/><Relationship Id="R76f537d1ed1d4e35" Type="http://schemas.openxmlformats.org/officeDocument/2006/relationships/slide" Target="slides/slide10.xml"/><Relationship Id="R79919eeecf984910" Type="http://schemas.openxmlformats.org/officeDocument/2006/relationships/slideMaster" Target="slideMasters/slideMaster1.xml"/><Relationship Id="R84cb3bad8dae4196" Type="http://schemas.openxmlformats.org/officeDocument/2006/relationships/presProps" Target="presProps.xml"/><Relationship Id="R9d7abdfbf71f478f" Type="http://schemas.openxmlformats.org/officeDocument/2006/relationships/slide" Target="slides/slide5.xml"/><Relationship Id="Ra2204ed9c364441b" Type="http://schemas.openxmlformats.org/officeDocument/2006/relationships/slide" Target="slides/slide3.xml"/><Relationship Id="Rad58cea8913943b5" Type="http://schemas.openxmlformats.org/officeDocument/2006/relationships/slide" Target="slides/slide7.xml"/><Relationship Id="Rbf7985ad3a784c00" Type="http://schemas.openxmlformats.org/officeDocument/2006/relationships/viewProps" Target="viewProps.xml"/><Relationship Id="Rc82e2b4bf05c46cf" Type="http://schemas.openxmlformats.org/officeDocument/2006/relationships/tableStyles" Target="tableStyles.xml"/><Relationship Id="Rdb3b09f9030e4e21" Type="http://schemas.openxmlformats.org/officeDocument/2006/relationships/slide" Target="slides/slide4.xml"/><Relationship Id="Rf6859ac523804fe9" Type="http://schemas.openxmlformats.org/officeDocument/2006/relationships/slide" Target="slides/slide2.xml"/><Relationship Id="Rf7e581a2d37e4720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ff325bede8ee407e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1f41fec8b2c4c34" Type="http://schemas.openxmlformats.org/officeDocument/2006/relationships/slide" Target="../slides/slide1.xml"/><Relationship Id="Red9b4d9dd537402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40a4cce5f974462" Type="http://schemas.openxmlformats.org/officeDocument/2006/relationships/slide" Target="../slides/slide2.xml"/><Relationship Id="R58675c0630c646df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dfe9658314713" Type="http://schemas.openxmlformats.org/officeDocument/2006/relationships/slide" Target="../slides/slide3.xml"/><Relationship Id="R3ade5dc3bbb74cf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b417a6b45f5544eb" Type="http://schemas.openxmlformats.org/officeDocument/2006/relationships/notesMaster" Target="../notesMasters/notesMaster1.xml"/><Relationship Id="Rf9f493f6255c4d40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2f406a8539048db" Type="http://schemas.openxmlformats.org/officeDocument/2006/relationships/notesMaster" Target="../notesMasters/notesMaster1.xml"/><Relationship Id="Rcfbda7a12b504aa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fc3c8afb6d146e8" Type="http://schemas.openxmlformats.org/officeDocument/2006/relationships/notesMaster" Target="../notesMasters/notesMaster1.xml"/><Relationship Id="Rdda9b9025e6a44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17e041d7a174503" Type="http://schemas.openxmlformats.org/officeDocument/2006/relationships/slide" Target="../slides/slide7.xml"/><Relationship Id="R6a3d4516053d4ae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5c48e0f9946435c" Type="http://schemas.openxmlformats.org/officeDocument/2006/relationships/notesMaster" Target="../notesMasters/notesMaster1.xml"/><Relationship Id="R72102ed68f4b4fe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9d682f2c0ae4ef0" Type="http://schemas.openxmlformats.org/officeDocument/2006/relationships/slide" Target="../slides/slide9.xml"/><Relationship Id="R712da624333d4d7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b67b6d3564a41d9" Type="http://schemas.openxmlformats.org/officeDocument/2006/relationships/notesMaster" Target="../notesMasters/notesMaster1.xml"/><Relationship Id="Re40b5decc1524b7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df403490c15493c" Type="http://schemas.openxmlformats.org/officeDocument/2006/relationships/slide" Target="../slides/slide11.xml"/><Relationship Id="Rd677647b037547cd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e5c2e51390e45d6" Type="http://schemas.openxmlformats.org/officeDocument/2006/relationships/slide" Target="../slides/slide12.xml"/><Relationship Id="Rf08cef94662b443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facts were checked against the supplied atmograph.zip source tree and the college PPT template. No external sources used. Presenter and guide details remain editable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37803ec26844bdf" Type="http://schemas.openxmlformats.org/officeDocument/2006/relationships/slideMaster" Target="../slideMasters/slideMaster1.xml"/><Relationship Id="Ra4cffa8b49334e4b" Type="http://schemas.openxmlformats.org/officeDocument/2006/relationships/image" Target="../media/image.png"/><Relationship Id="Ref54a48ef5fe416a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4e11ee702c3f46da" Type="http://schemas.openxmlformats.org/officeDocument/2006/relationships/slideMaster" Target="../slideMasters/slideMaster1.xml"/><Relationship Id="Rfc5f43147a3f4589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580b7c4e3489460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6d0cc82e795e4f2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f4b51d4c9222453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777ff339a2d484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18a272d4639b430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482e7ab2f34b4e3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91f93bdbda05435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1c23c2eb5cd747a6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f59366bd0eac4d9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777304724f6f4811" Type="http://schemas.openxmlformats.org/officeDocument/2006/relationships/slideMaster" Target="../slideMasters/slideMaster2.xml"/><Relationship Id="Rafb6b7ceb78f41a3" Type="http://schemas.openxmlformats.org/officeDocument/2006/relationships/image" Target="../media/image2.png"/><Relationship Id="Rf7b7da97c17646d8" Type="http://schemas.openxmlformats.org/officeDocument/2006/relationships/image" Target="../media/image.jpeg"/></Relationships>
</file>

<file path=ppt/slideLayouts/_rels/slideLayout13.xml.rels><?xml version='1.0' encoding='UTF-8' standalone='yes'?>
<Relationships xmlns="http://schemas.openxmlformats.org/package/2006/relationships"><Relationship Id="Rcf566a5f654945e6" Type="http://schemas.openxmlformats.org/officeDocument/2006/relationships/image" Target="../media/image4.png"/><Relationship Id="Rf7d1522afd0243ae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54fde069265f4834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ded8697ba9bd4b45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a3919e1b3dc24cd8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40f0590a404d4fe9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29ff800072504c07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8e4c4df5af714ecd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5531a876b1b64f7f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bdaa5d36e3304f8d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0a5d16536ce34535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B4670E-8DEE-4882-9D20-FAD97BB987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070962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325733-92D3-451A-8E95-361EBF73B5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6EDCAC-FC0C-4F6F-9E31-B651874EEF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673B60-3F0F-4964-A130-D1828BB06522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71C851-C261-439B-B0B5-5FAC5E8DF1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AB48A2-801A-4CCD-86EC-DE7DCEDED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  <p:pic>
        <p:nvPicPr>
          <p:cNvPr id="2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ffa8b4933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132" y="4222"/>
            <a:ext cx="1691811" cy="1073092"/>
          </a:xfrm>
          <a:prstGeom xmlns:a="http://schemas.openxmlformats.org/drawingml/2006/main" prst="rect">
            <a:avLst/>
          </a:prstGeom>
        </p:spPr>
      </p:pic>
      <p:sp>
        <p:nvSpPr>
          <p:cNvPr id="11" name="Arrow: Pentagon 10">
            <a:extLst xmlns:a="http://schemas.openxmlformats.org/drawingml/2006/main">
              <a:ext uri="{FF2B5EF4-FFF2-40B4-BE49-F238E27FC236}">
                <a16:creationId xmlns:a16="http://schemas.microsoft.com/office/drawing/2014/main" id="{3316260B-B2D4-4964-8111-95B4CFA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2" y="1066732"/>
            <a:ext cx="978408" cy="4846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3A300F05-23CD-465D-AB20-89AEAED5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296960"/>
            <a:ext cx="11186460" cy="16318"/>
          </a:xfrm>
          <a:prstGeom xmlns:a="http://schemas.openxmlformats.org/drawingml/2006/main" prst="line">
            <a:avLst/>
          </a:prstGeom>
          <a:ln xmlns:a="http://schemas.openxmlformats.org/drawingml/2006/main" w="571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EB7DC8D-FD60-478D-ACDF-17D9729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134" y="0"/>
            <a:ext cx="1141734" cy="1233082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ef54a48ef5fe416a"/>
            <a:stretch>
              <a:fillRect l="0" t="0" r="0" b="0"/>
            </a:stretch>
          </a:blip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10218D-8358-4C37-9C78-5DEBD8A870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010152-F429-420C-A26B-1FAE004C11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3B1235-ABAA-4FF9-B98D-7C88D6556A1E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E8D718-FBF8-4831-84E6-A97FA18279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907D49-3A45-485F-BE7C-4C964FDE00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  <p:sp>
        <p:nvSpPr>
          <p:cNvPr id="9" name="Arrow: Pentagon 8">
            <a:extLst xmlns:a="http://schemas.openxmlformats.org/drawingml/2006/main">
              <a:ext uri="{FF2B5EF4-FFF2-40B4-BE49-F238E27FC236}">
                <a16:creationId xmlns:a16="http://schemas.microsoft.com/office/drawing/2014/main" id="{C7B4008A-2AA8-4165-893D-21B1094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2" y="1070962"/>
            <a:ext cx="978408" cy="4846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3BA2DD43-D358-466A-8F15-315F4CF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296960"/>
            <a:ext cx="11186460" cy="16318"/>
          </a:xfrm>
          <a:prstGeom xmlns:a="http://schemas.openxmlformats.org/drawingml/2006/main" prst="line">
            <a:avLst/>
          </a:prstGeom>
          <a:ln xmlns:a="http://schemas.openxmlformats.org/drawingml/2006/main" w="571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f43147a3f4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4370" y="0"/>
            <a:ext cx="1456501" cy="145650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A758AD-8D4E-4991-A6C6-3D6E07D8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6FCFDA-2BC3-4994-B2D0-53535BCCFD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0E9D64-106F-4D45-945F-77CC53755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3E68FFB-135E-401A-B6C8-E2AAE625E10D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D44E8A-4171-48A2-8CCB-72251F7A8C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C7E704-BFD7-4A67-83F6-11C5897489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907FAC-231A-4443-AE23-4070E1FAA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0F7254-51F2-468E-BDD2-01CC8B59D0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5ADAF5-9EC6-448A-ADC7-8076E3E682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EF6B9C-D24C-46EE-AB6A-98AE1D5A84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C9C248-FACC-4F38-AC27-6FEAF03E55EE}" type="datetime1">
              <a:t>17-11-2025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06AFD2-51E1-4946-92F5-3D4C7D1F11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75BC31-9C25-4EE7-B8FF-17DAE5A9B6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54BF4-EE85-4B6C-9847-E78BF88F7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4ECF76-3510-404F-8AAF-E31AAF488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31584C-30BD-46C7-938E-D2E3D99808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165EA0-10C6-4B87-838A-80EB462370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FB601A6-6280-475C-98ED-5DE2DE46F47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A3587AA-B87B-4326-A64B-56EADA2EB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9A427E-42D0-48C2-8BF0-7631367B4B66}" type="datetime1">
              <a:t>17-11-2025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C0E882C-2B25-42D5-A750-431F795BCB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662E0A-1BF5-4FBE-B0EC-4BB68D2B0E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488A71-C7BD-465F-8130-36EB0C9D6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A55F490-7EC5-4BAE-8A91-BCE08FFB73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4A0693-B0A9-4916-8BDE-8EC709CE168E}" type="datetime1">
              <a:t>17-11-2025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C2383FB-5F49-4205-9632-A586ACCCB4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295995E-77A5-47C7-888D-B14760A74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4EB53C9-741E-46EF-910A-318E432A2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B4EAC-0855-4C11-992B-8D21D0E370D6}" type="datetime1">
              <a:t>17-11-2025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13D595E-861B-433B-91A4-E030F60A1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1F697EE-D753-454E-8ABD-BD69442676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90A40-D1F7-434E-84FA-F81999E48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ADCD7F-3238-4EC8-926D-26DAC82ECE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A51B5C1-D1E1-4BC3-94A5-795321FCD0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556744-B09C-40E3-8E4C-88B90D9076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901A427-44E7-4FA7-B5AF-BAE9C7DE9E7B}" type="datetime1">
              <a:t>17-11-2025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F94580-43A7-4F23-B4D4-9833286D9C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4644D42-C0BB-4CC5-B40B-CC5041F4A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3AA657-A851-46CD-8F35-9CF5453D7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0D624BE-41C5-464D-95D6-A2B783B992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CC00D7-6A35-4032-8EBB-47606D7AFC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E44A9A-360E-48FD-820D-12B5A975BE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856ABC1-0448-4868-B006-4ED682C6276D}" type="datetime1">
              <a:t>17-11-2025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B7F8E6C-4570-4873-AD0E-F5D64C1778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E7613C5-C536-4344-A5FD-EFCD7E8AFC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3A88A3-05CC-49D8-9347-17CA3D9FC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5D9456-047E-4E11-BB9E-4972B820E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C94AC6-B396-4EEF-8408-F90349B623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4FB02-4DF4-45A4-801E-3251DF36C1AD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7FC4C-8534-4734-BE99-DB2E512E8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5008A2-D146-4934-9506-DDB1BAEFAB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35C463D-ED1A-44FA-9F35-3B78E640E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9C8A02-FF69-4A21-93E5-689D23F36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AC8340-BE8C-456E-883F-0D05EB274A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BACF88-F917-4CD6-B844-63A2C560DEAC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E55507-928A-43AC-A96A-0FF2F8DEA6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42FD37-9DD2-499C-9017-F1CFC1787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B4670E-8DEE-4882-9D20-FAD97BB987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070962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325733-92D3-451A-8E95-361EBF73B5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6EDCAC-FC0C-4F6F-9E31-B651874EEF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673B60-3F0F-4964-A130-D1828BB06522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71C851-C261-439B-B0B5-5FAC5E8DF1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AB48A2-801A-4CCD-86EC-DE7DCEDED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Arrow: Pentagon 10">
            <a:extLst xmlns:a="http://schemas.openxmlformats.org/drawingml/2006/main">
              <a:ext uri="{FF2B5EF4-FFF2-40B4-BE49-F238E27FC236}">
                <a16:creationId xmlns:a16="http://schemas.microsoft.com/office/drawing/2014/main" id="{3316260B-B2D4-4964-8111-95B4CFA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2" y="1066732"/>
            <a:ext cx="978408" cy="4846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</a:endParaRP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9ED063F5-13BD-479C-9D95-B49FEF6C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296960"/>
            <a:ext cx="11186460" cy="16318"/>
          </a:xfrm>
          <a:prstGeom xmlns:a="http://schemas.openxmlformats.org/drawingml/2006/main" prst="line">
            <a:avLst/>
          </a:prstGeom>
          <a:ln xmlns:a="http://schemas.openxmlformats.org/drawingml/2006/main" w="571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EB7DC8D-FD60-478D-ACDF-17D9729D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3134" y="0"/>
            <a:ext cx="1141734" cy="1233082"/>
          </a:xfrm>
          <a:prstGeom xmlns:a="http://schemas.openxmlformats.org/drawingml/2006/main" prst="ellipse">
            <a:avLst/>
          </a:prstGeom>
          <a:blipFill xmlns:a="http://schemas.openxmlformats.org/drawingml/2006/main">
            <a:blip xmlns:r="http://schemas.openxmlformats.org/officeDocument/2006/relationships" r:embed="Rafb6b7ceb78f41a3"/>
            <a:stretch>
              <a:fillRect l="0" t="0" r="0" b="0"/>
            </a:stretch>
          </a:blip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</a:endParaRPr>
          </a:p>
        </p:txBody>
      </p:sp>
      <p:pic>
        <p:nvPicPr>
          <p:cNvPr id="2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7da97c17646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40" y="-5898"/>
            <a:ext cx="1104176" cy="108294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10218D-8358-4C37-9C78-5DEBD8A870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0010152-F429-420C-A26B-1FAE004C11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3B1235-ABAA-4FF9-B98D-7C88D6556A1E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E8D718-FBF8-4831-84E6-A97FA18279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907D49-3A45-485F-BE7C-4C964FDE00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Arrow: Pentagon 8">
            <a:extLst xmlns:a="http://schemas.openxmlformats.org/drawingml/2006/main">
              <a:ext uri="{FF2B5EF4-FFF2-40B4-BE49-F238E27FC236}">
                <a16:creationId xmlns:a16="http://schemas.microsoft.com/office/drawing/2014/main" id="{C7B4008A-2AA8-4165-893D-21B10940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2" y="1070962"/>
            <a:ext cx="978408" cy="4846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C00000"/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prstClr val="white"/>
              </a:solidFill>
            </a:endParaRPr>
          </a:p>
        </p:txBody>
      </p:sp>
      <p:sp>
        <p:nvSpPr>
          <p:cNvPr id="10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D79DBC7D-7C2C-4938-90AE-FF38C64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296960"/>
            <a:ext cx="11186460" cy="16318"/>
          </a:xfrm>
          <a:prstGeom xmlns:a="http://schemas.openxmlformats.org/drawingml/2006/main" prst="line">
            <a:avLst/>
          </a:prstGeom>
          <a:ln xmlns:a="http://schemas.openxmlformats.org/drawingml/2006/main" w="571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66a5f6549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4370" y="0"/>
            <a:ext cx="1242955" cy="124295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A758AD-8D4E-4991-A6C6-3D6E07D8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6FCFDA-2BC3-4994-B2D0-53535BCCFD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0E9D64-106F-4D45-945F-77CC537558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3E68FFB-135E-401A-B6C8-E2AAE625E10D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D44E8A-4171-48A2-8CCB-72251F7A8C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C7E704-BFD7-4A67-83F6-11C5897489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907FAC-231A-4443-AE23-4070E1FAA0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0F7254-51F2-468E-BDD2-01CC8B59D0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F5ADAF5-9EC6-448A-ADC7-8076E3E682D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EF6B9C-D24C-46EE-AB6A-98AE1D5A84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C9C248-FACC-4F38-AC27-6FEAF03E55EE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06AFD2-51E1-4946-92F5-3D4C7D1F11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75BC31-9C25-4EE7-B8FF-17DAE5A9B6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54BF4-EE85-4B6C-9847-E78BF88F7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94ECF76-3510-404F-8AAF-E31AAF488D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731584C-30BD-46C7-938E-D2E3D99808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165EA0-10C6-4B87-838A-80EB462370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FB601A6-6280-475C-98ED-5DE2DE46F47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A3587AA-B87B-4326-A64B-56EADA2EB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9A427E-42D0-48C2-8BF0-7631367B4B66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C0E882C-2B25-42D5-A750-431F795BCB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662E0A-1BF5-4FBE-B0EC-4BB68D2B0E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488A71-C7BD-465F-8130-36EB0C9D6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A55F490-7EC5-4BAE-8A91-BCE08FFB73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54A0693-B0A9-4916-8BDE-8EC709CE168E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C2383FB-5F49-4205-9632-A586ACCCB4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295995E-77A5-47C7-888D-B14760A74A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4EB53C9-741E-46EF-910A-318E432A2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B4EAC-0855-4C11-992B-8D21D0E370D6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13D595E-861B-433B-91A4-E030F60A1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1F697EE-D753-454E-8ABD-BD69442676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90A40-D1F7-434E-84FA-F81999E48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ADCD7F-3238-4EC8-926D-26DAC82ECE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A51B5C1-D1E1-4BC3-94A5-795321FCD0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556744-B09C-40E3-8E4C-88B90D9076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901A427-44E7-4FA7-B5AF-BAE9C7DE9E7B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F94580-43A7-4F23-B4D4-9833286D9C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4644D42-C0BB-4CC5-B40B-CC5041F4A2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3AA657-A851-46CD-8F35-9CF5453D7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0D624BE-41C5-464D-95D6-A2B783B9922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CC00D7-6A35-4032-8EBB-47606D7AFC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E44A9A-360E-48FD-820D-12B5A975BE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856ABC1-0448-4868-B006-4ED682C6276D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B7F8E6C-4570-4873-AD0E-F5D64C1778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E7613C5-C536-4344-A5FD-EFCD7E8AFC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3A88A3-05CC-49D8-9347-17CA3D9FC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5D9456-047E-4E11-BB9E-4972B820E9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C94AC6-B396-4EEF-8408-F90349B623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84FB02-4DF4-45A4-801E-3251DF36C1AD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7FC4C-8534-4734-BE99-DB2E512E8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5008A2-D146-4934-9506-DDB1BAEFAB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35C463D-ED1A-44FA-9F35-3B78E640E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9C8A02-FF69-4A21-93E5-689D23F36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AC8340-BE8C-456E-883F-0D05EB274A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BACF88-F917-4CD6-B844-63A2C560DEAC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E55507-928A-43AC-A96A-0FF2F8DEA6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42FD37-9DD2-499C-9017-F1CFC1787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e560b2245734f4e" Type="http://schemas.openxmlformats.org/officeDocument/2006/relationships/slideLayout" Target="../slideLayouts/slideLayout2.xml"/><Relationship Id="R1170dc320c6842e4" Type="http://schemas.openxmlformats.org/officeDocument/2006/relationships/slideLayout" Target="../slideLayouts/slideLayout1.xml"/><Relationship Id="R1eaa7aaee4f44182" Type="http://schemas.openxmlformats.org/officeDocument/2006/relationships/slideLayout" Target="../slideLayouts/slideLayout11.xml"/><Relationship Id="R4b18399be48d4594" Type="http://schemas.openxmlformats.org/officeDocument/2006/relationships/slideLayout" Target="../slideLayouts/slideLayout10.xml"/><Relationship Id="R5d1c58361cd842c6" Type="http://schemas.openxmlformats.org/officeDocument/2006/relationships/slideLayout" Target="../slideLayouts/slideLayout7.xml"/><Relationship Id="R80d65b13bdb94943" Type="http://schemas.openxmlformats.org/officeDocument/2006/relationships/slideLayout" Target="../slideLayouts/slideLayout3.xml"/><Relationship Id="Rb9684d91721b4009" Type="http://schemas.openxmlformats.org/officeDocument/2006/relationships/slideLayout" Target="../slideLayouts/slideLayout9.xml"/><Relationship Id="Rbeb20f82c6f74d8d" Type="http://schemas.openxmlformats.org/officeDocument/2006/relationships/theme" Target="theme/theme2.xml"/><Relationship Id="Rcd796ef2f94249db" Type="http://schemas.openxmlformats.org/officeDocument/2006/relationships/slideLayout" Target="../slideLayouts/slideLayout4.xml"/><Relationship Id="Re57d10f400cb4b56" Type="http://schemas.openxmlformats.org/officeDocument/2006/relationships/slideLayout" Target="../slideLayouts/slideLayout8.xml"/><Relationship Id="Refe9d3d037834ffa" Type="http://schemas.openxmlformats.org/officeDocument/2006/relationships/slideLayout" Target="../slideLayouts/slideLayout6.xml"/><Relationship Id="Rf6b35b39c7af4877" Type="http://schemas.openxmlformats.org/officeDocument/2006/relationships/slideLayout" Target="../slideLayouts/slideLayout5.xml"/></Relationships>
</file>

<file path=ppt/slideMasters/_rels/slideMaster2.xml.rels><?xml version='1.0' encoding='UTF-8' standalone='yes'?>
<Relationships xmlns="http://schemas.openxmlformats.org/package/2006/relationships"><Relationship Id="R03964651db304326" Type="http://schemas.openxmlformats.org/officeDocument/2006/relationships/slideLayout" Target="../slideLayouts/slideLayout13.xml"/><Relationship Id="R1ab21f61e3a947d3" Type="http://schemas.openxmlformats.org/officeDocument/2006/relationships/slideLayout" Target="../slideLayouts/slideLayout17.xml"/><Relationship Id="R252ca8fecfe7454f" Type="http://schemas.openxmlformats.org/officeDocument/2006/relationships/slideLayout" Target="../slideLayouts/slideLayout14.xml"/><Relationship Id="R27037331b6d64dfa" Type="http://schemas.openxmlformats.org/officeDocument/2006/relationships/slideLayout" Target="../slideLayouts/slideLayout20.xml"/><Relationship Id="R3a019f89c16d43f2" Type="http://schemas.openxmlformats.org/officeDocument/2006/relationships/slideLayout" Target="../slideLayouts/slideLayout15.xml"/><Relationship Id="R3bc705fcfb754569" Type="http://schemas.openxmlformats.org/officeDocument/2006/relationships/theme" Target="theme/theme3.xml"/><Relationship Id="R75689650ffcf4095" Type="http://schemas.openxmlformats.org/officeDocument/2006/relationships/slideLayout" Target="../slideLayouts/slideLayout22.xml"/><Relationship Id="R7efd72b3c3984ca0" Type="http://schemas.openxmlformats.org/officeDocument/2006/relationships/slideLayout" Target="../slideLayouts/slideLayout16.xml"/><Relationship Id="R89d11ccfb8754be4" Type="http://schemas.openxmlformats.org/officeDocument/2006/relationships/slideLayout" Target="../slideLayouts/slideLayout18.xml"/><Relationship Id="R95392312ff1e479e" Type="http://schemas.openxmlformats.org/officeDocument/2006/relationships/slideLayout" Target="../slideLayouts/slideLayout21.xml"/><Relationship Id="R95ba76dd94404a0e" Type="http://schemas.openxmlformats.org/officeDocument/2006/relationships/slideLayout" Target="../slideLayouts/slideLayout12.xml"/><Relationship Id="Rc58ce6dc404c4fbc" Type="http://schemas.openxmlformats.org/officeDocument/2006/relationships/slideLayout" Target="../slideLayouts/slideLayout19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1">
            <a:lumMod val="20000"/>
            <a:lumOff val="80000"/>
            <a:alpha val="7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B8AF4F6-51AE-4579-96E7-17E3F0CF2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DB5DF5-2BB8-4636-96CA-C63424AD3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79CE0C-38B1-4111-B91C-C0E390D916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B672839-5639-4A54-854B-56F5852EF4EC}" type="datetime1">
              <a:t>17-11-2025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EE5A73-7CA8-4888-8DCD-9BBDE3BAEA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F90504-C29F-4E3B-A409-4ACEAC0C86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580E33B-3B1D-41CF-87B6-71715FF43E8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70dc320c6842e4"/>
    <p:sldLayoutId xmlns:r="http://schemas.openxmlformats.org/officeDocument/2006/relationships" id="2147483650" r:id="R0e560b2245734f4e"/>
    <p:sldLayoutId xmlns:r="http://schemas.openxmlformats.org/officeDocument/2006/relationships" id="2147483651" r:id="R80d65b13bdb94943"/>
    <p:sldLayoutId xmlns:r="http://schemas.openxmlformats.org/officeDocument/2006/relationships" id="2147483652" r:id="Rcd796ef2f94249db"/>
    <p:sldLayoutId xmlns:r="http://schemas.openxmlformats.org/officeDocument/2006/relationships" id="2147483653" r:id="Rf6b35b39c7af4877"/>
    <p:sldLayoutId xmlns:r="http://schemas.openxmlformats.org/officeDocument/2006/relationships" id="2147483654" r:id="Refe9d3d037834ffa"/>
    <p:sldLayoutId xmlns:r="http://schemas.openxmlformats.org/officeDocument/2006/relationships" id="2147483655" r:id="R5d1c58361cd842c6"/>
    <p:sldLayoutId xmlns:r="http://schemas.openxmlformats.org/officeDocument/2006/relationships" id="2147483656" r:id="Re57d10f400cb4b56"/>
    <p:sldLayoutId xmlns:r="http://schemas.openxmlformats.org/officeDocument/2006/relationships" id="2147483657" r:id="Rb9684d91721b4009"/>
    <p:sldLayoutId xmlns:r="http://schemas.openxmlformats.org/officeDocument/2006/relationships" id="2147483658" r:id="R4b18399be48d4594"/>
    <p:sldLayoutId xmlns:r="http://schemas.openxmlformats.org/officeDocument/2006/relationships" id="2147483659" r:id="R1eaa7aaee4f4418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accent1">
            <a:lumMod val="20000"/>
            <a:lumOff val="80000"/>
            <a:alpha val="7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B8AF4F6-51AE-4579-96E7-17E3F0CF2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DB5DF5-2BB8-4636-96CA-C63424AD36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79CE0C-38B1-4111-B91C-C0E390D916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B672839-5639-4A54-854B-56F5852EF4EC}" type="datetime1">
              <a:rPr>
                <a:solidFill>
                  <a:prstClr val="black">
                    <a:tint val="75000"/>
                  </a:prstClr>
                </a:solidFill>
              </a:rPr>
              <a:t>17-11-2025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7EE5A73-7CA8-4888-8DCD-9BBDE3BAEA8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F90504-C29F-4E3B-A409-4ACEAC0C86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580E33B-3B1D-41CF-87B6-71715FF43E8C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5ba76dd94404a0e"/>
    <p:sldLayoutId xmlns:r="http://schemas.openxmlformats.org/officeDocument/2006/relationships" id="2147483662" r:id="R03964651db304326"/>
    <p:sldLayoutId xmlns:r="http://schemas.openxmlformats.org/officeDocument/2006/relationships" id="2147483663" r:id="R252ca8fecfe7454f"/>
    <p:sldLayoutId xmlns:r="http://schemas.openxmlformats.org/officeDocument/2006/relationships" id="2147483664" r:id="R3a019f89c16d43f2"/>
    <p:sldLayoutId xmlns:r="http://schemas.openxmlformats.org/officeDocument/2006/relationships" id="2147483665" r:id="R7efd72b3c3984ca0"/>
    <p:sldLayoutId xmlns:r="http://schemas.openxmlformats.org/officeDocument/2006/relationships" id="2147483666" r:id="R1ab21f61e3a947d3"/>
    <p:sldLayoutId xmlns:r="http://schemas.openxmlformats.org/officeDocument/2006/relationships" id="2147483667" r:id="R89d11ccfb8754be4"/>
    <p:sldLayoutId xmlns:r="http://schemas.openxmlformats.org/officeDocument/2006/relationships" id="2147483668" r:id="Rc58ce6dc404c4fbc"/>
    <p:sldLayoutId xmlns:r="http://schemas.openxmlformats.org/officeDocument/2006/relationships" id="2147483669" r:id="R27037331b6d64dfa"/>
    <p:sldLayoutId xmlns:r="http://schemas.openxmlformats.org/officeDocument/2006/relationships" id="2147483670" r:id="R95392312ff1e479e"/>
    <p:sldLayoutId xmlns:r="http://schemas.openxmlformats.org/officeDocument/2006/relationships" id="2147483671" r:id="R75689650ffcf409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fa5ce9f1a747f5" Type="http://schemas.openxmlformats.org/officeDocument/2006/relationships/slideLayout" Target="../slideLayouts/slideLayout12.xml"/><Relationship Id="Rfcd76a3859104d6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1d80c5914464a65" Type="http://schemas.openxmlformats.org/officeDocument/2006/relationships/notesSlide" Target="../notesSlides/notesSlide2.xml"/><Relationship Id="R21137f4f320241c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1980c5a7a96f43f2" Type="http://schemas.openxmlformats.org/officeDocument/2006/relationships/slideLayout" Target="../slideLayouts/slideLayout2.xml"/><Relationship Id="Rafeac8649160412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9c449bc0d894a0d" Type="http://schemas.openxmlformats.org/officeDocument/2006/relationships/notesSlide" Target="../notesSlides/notesSlide4.xml"/><Relationship Id="R9f2379216ca14a0c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38741b54c2694af9" Type="http://schemas.openxmlformats.org/officeDocument/2006/relationships/notesSlide" Target="../notesSlides/notesSlide5.xml"/><Relationship Id="Rc992f493ebe24355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4cc75857883c41a2" Type="http://schemas.openxmlformats.org/officeDocument/2006/relationships/slideLayout" Target="../slideLayouts/slideLayout2.xml"/><Relationship Id="R9981a3773294476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6c43a85ceb749e9" Type="http://schemas.openxmlformats.org/officeDocument/2006/relationships/notesSlide" Target="../notesSlides/notesSlide7.xml"/><Relationship Id="Rf930421fd957402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03b4a55cc0f04380" Type="http://schemas.openxmlformats.org/officeDocument/2006/relationships/slideLayout" Target="../slideLayouts/slideLayout2.xml"/><Relationship Id="R3e5d9f8445374a5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c6bc738a8bc14ac0" Type="http://schemas.openxmlformats.org/officeDocument/2006/relationships/slideLayout" Target="../slideLayouts/slideLayout2.xml"/><Relationship Id="Redd282d2bc36437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cfcac7e1c06f45c6" Type="http://schemas.openxmlformats.org/officeDocument/2006/relationships/notesSlide" Target="../notesSlides/notesSlide10.xml"/><Relationship Id="Rd899180bec5640a3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5fc6bb585b0e4a5d" Type="http://schemas.openxmlformats.org/officeDocument/2006/relationships/notesSlide" Target="../notesSlides/notesSlide11.xml"/><Relationship Id="Ra0569f0752fc4123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0fde7364ddc24bbc" Type="http://schemas.openxmlformats.org/officeDocument/2006/relationships/slideLayout" Target="../slideLayouts/slideLayout2.xml"/><Relationship Id="R9ee6102b7d5a470e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766044-0D80-4C29-8B79-D4D50EDBF9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584220"/>
            <a:ext cx="9144000" cy="124193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0" i="0" u="none">
                <a:latin typeface="Times New Roman"/>
                <a:ea typeface="Times New Roman"/>
                <a:cs typeface="Times New Roman"/>
              </a:rPr>
              <a:t>Sarvajanik College of Engineering and Technology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0" i="0" u="none">
                <a:latin typeface="Times New Roman"/>
                <a:ea typeface="Times New Roman"/>
                <a:cs typeface="Times New Roman"/>
              </a:rPr>
              <a:t>Department: [Your Department]</a:t>
            </a:r>
            <a:endParaRPr sz="2000"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0" i="0" u="none">
                <a:latin typeface="Times New Roman"/>
                <a:ea typeface="Times New Roman"/>
                <a:cs typeface="Times New Roman"/>
              </a:rPr>
              <a:t>Semester 7 Project</a:t>
            </a:r>
            <a:endParaRPr sz="20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BBD2A9-A66F-4532-A141-6E0352BE73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1012" y="5076732"/>
            <a:ext cx="6033247" cy="165576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Presented By: [Your Name]  |  Enrollment No: [ID]</a:t>
            </a:r>
          </a:p>
        </p:txBody>
      </p:sp>
      <p:sp>
        <p:nvSpPr>
          <p:cNvPr id="4" name="Subtitle 2">
            <a:extLst xmlns:a="http://schemas.openxmlformats.org/drawingml/2006/main">
              <a:ext uri="{FF2B5EF4-FFF2-40B4-BE49-F238E27FC236}">
                <a16:creationId xmlns:a16="http://schemas.microsoft.com/office/drawing/2014/main" id="{CFF9E14F-1944-048A-EC53-E1029216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648" y="5451196"/>
            <a:ext cx="4392705" cy="11940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t>Guided By: [Guide Name]</a:t>
            </a:r>
            <a:endParaRPr/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1796C5CF-290D-2A1E-BCD8-BAF252B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44227"/>
            <a:ext cx="9144000" cy="13695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fontScale="79644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/>
            </a:r>
            <a:endParaRPr sz="4800"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AtmoGraph</a:t>
            </a:r>
            <a:endParaRPr sz="4800"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defRPr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Supply Chain Ripple Effect Predictor</a:t>
            </a:r>
            <a:endParaRPr sz="4800">
              <a:solidFill>
                <a:prstClr val="black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3258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A8ADAA-BE37-4228-AB68-FC828CBA0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AtmoGraph Overview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97A149-3A4D-4F94-A963-BB317DC581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tool to understand supply-chain disruptions.</a:t>
            </a:r>
            <a:endParaRPr/>
          </a:p>
          <a:p xmlns:a="http://schemas.openxmlformats.org/drawingml/2006/main">
            <a:r>
              <a:t>News and company data are used to create links between events, suppliers, and products.</a:t>
            </a:r>
            <a:endParaRPr/>
          </a:p>
          <a:p xmlns:a="http://schemas.openxmlformats.org/drawingml/2006/main">
            <a:r>
              <a:t>The app shows possible impact, delay, and risk scores.</a:t>
            </a:r>
            <a:endParaRPr/>
          </a:p>
          <a:p xmlns:a="http://schemas.openxmlformats.org/drawingml/2006/main">
            <a:r>
              <a:t>Users can explore the graph, history, and what-if scenarios.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E2695BB-DF0B-60FA-E951-74A2290A2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4235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Problem and Project Goal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Disruption news is spread across different sources.</a:t>
            </a:r>
          </a:p>
          <a:p xmlns:a="http://schemas.openxmlformats.org/drawingml/2006/main">
            <a:r>
              <a:t>It is difficult to manually trace the impact from a supplier to a product.</a:t>
            </a:r>
            <a:endParaRPr/>
          </a:p>
          <a:p xmlns:a="http://schemas.openxmlformats.org/drawingml/2006/main">
            <a:r>
              <a:t>Goal: Quickly show the suppliers and products connected to an event.</a:t>
            </a:r>
            <a:endParaRPr/>
          </a:p>
          <a:p xmlns:a="http://schemas.openxmlformats.org/drawingml/2006/main">
            <a:r>
              <a:t>Output decision support hai; final business decision human leta hai.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5174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System Architecture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Input: RSS/news text ya Excel supply-chain workbook.</a:t>
            </a:r>
          </a:p>
          <a:p xmlns:a="http://schemas.openxmlformats.org/drawingml/2006/main">
            <a:r>
              <a:t>React screen request bhejti hai; FastAPI route service ko call karta hai.</a:t>
            </a:r>
            <a:endParaRPr/>
          </a:p>
          <a:p xmlns:a="http://schemas.openxmlformats.org/drawingml/2006/main">
            <a:r>
              <a:t>Python services NLP, business rules, graph aur prediction chalati hain.</a:t>
            </a:r>
            <a:endParaRPr/>
          </a:p>
          <a:p xmlns:a="http://schemas.openxmlformats.org/drawingml/2006/main">
            <a:r>
              <a:t>SQLite records rakhta hai; Neo4j connections; JSON/WebSocket UI tak.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5100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01912A-A980-40D2-BACC-98656D8013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News to Event Graph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71E199-2E6C-470E-A0B3-AEAD17003D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Regex + spaCy title/body se event, severity, location/entities dhoondhte hain.</a:t>
            </a:r>
          </a:p>
          <a:p xmlns:a="http://schemas.openxmlformats.org/drawingml/2006/main">
            <a:r>
              <a:t>2. SQL mein Event record banta hai; supplier/product names resolve hote hain.</a:t>
            </a:r>
          </a:p>
          <a:p xmlns:a="http://schemas.openxmlformats.org/drawingml/2006/main">
            <a:r>
              <a:t>3. Event → Supplier → Product links SQL aur Neo4j mein sync hote hain.</a:t>
            </a:r>
            <a:endParaRPr/>
          </a:p>
          <a:p xmlns:a="http://schemas.openxmlformats.org/drawingml/2006/main">
            <a:r>
              <a:t>4. Unmatched names graph entity ho sakte hain, par catalog link miss ho sakta hai.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5064EE1-BFF2-A167-CA29-9D2C67EF1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99080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A8ADAA-BE37-4228-AB68-FC828CBA0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Data and Relationship Model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97A149-3A4D-4F94-A963-BB317DC581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SQLite: Events, Suppliers, Products aur SupplyChainLinks.</a:t>
            </a:r>
          </a:p>
          <a:p xmlns:a="http://schemas.openxmlformats.org/drawingml/2006/main">
            <a:r>
              <a:t>Business tables: Plants, Components, Inventory, Capacity, Demand, Routes.</a:t>
            </a:r>
          </a:p>
          <a:p xmlns:a="http://schemas.openxmlformats.org/drawingml/2006/main">
            <a:r>
              <a:t>Neo4j: flexible nodes/edges; example Event → AFFECTS → Supplier.</a:t>
            </a:r>
          </a:p>
          <a:p xmlns:a="http://schemas.openxmlformats.org/drawingml/2006/main">
            <a:r>
              <a:t>Supplier → SUPPLIES → Product; graph ka depth GNN input ko badalta hai.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E2695BB-DF0B-60FA-E951-74A2290A2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21058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42294"/>
            <a:ext cx="10515600" cy="958708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Risk Prediction and GNN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C4C6C8-6955-4D0B-8127-924D18E902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Rule score: severity + affected supplier/product counts + event status.</a:t>
            </a:r>
          </a:p>
          <a:p xmlns:a="http://schemas.openxmlformats.org/drawingml/2006/main">
            <a:r>
              <a:t>GNN: 10 node features → 2 GCN layers (32 hidden) → 0–100 node scores.</a:t>
            </a:r>
            <a:endParaRPr/>
          </a:p>
          <a:p xmlns:a="http://schemas.openxmlformats.org/drawingml/2006/main">
            <a:pPr marL="0" indent="0">
              <a:buNone/>
            </a:pPr>
            <a:r>
              <a:t>• Hybrid = 40% rule score + 60% highest GNN node score.</a:t>
            </a:r>
            <a:endParaRPr/>
          </a:p>
          <a:p xmlns:a="http://schemas.openxmlformats.org/drawingml/2006/main">
            <a:pPr marL="0" indent="0">
              <a:buNone/>
            </a:pPr>
            <a:r>
              <a:t>• Training labels code ke severity/impact/delay rules se bante hain; real accuracy proven nahi.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3790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Technologies Used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C4C6C8-6955-4D0B-8127-924D18E9022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+ FastAPI: API routes aur backend business logic.</a:t>
            </a:r>
            <a:endParaRPr/>
          </a:p>
          <a:p xmlns:a="http://schemas.openxmlformats.org/drawingml/2006/main">
            <a:r>
              <a:t>React + TypeScript + Vite: browser screens; Recharts/React Flow: charts/graph.</a:t>
            </a:r>
            <a:endParaRPr/>
          </a:p>
          <a:p xmlns:a="http://schemas.openxmlformats.org/drawingml/2006/main">
            <a:r>
              <a:t>SQLAlchemy + SQLite: tables; Neo4j + Cypher: connected graph.</a:t>
            </a:r>
            <a:endParaRPr/>
          </a:p>
          <a:p xmlns:a="http://schemas.openxmlformats.org/drawingml/2006/main">
            <a:r>
              <a:t>spaCy: entities; PyTorch + PyTorch Geometric: GCN training/inference.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3253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710D4D-7AFC-46BD-8984-0E5F3A854C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Implementation and Current Results</a:t>
            </a: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DEF8348-7A61-4EF5-AC55-2E43A5224D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06439" y="1839272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• FastAPI APIs, React screens, SQL models and Neo4j services are present.</a:t>
            </a:r>
            <a:endParaRPr/>
          </a:p>
          <a:p xmlns:a="http://schemas.openxmlformats.org/drawingml/2006/main">
            <a:pPr marL="0" indent="0">
              <a:buNone/>
            </a:pPr>
            <a:r>
              <a:t>• GNN checkpoint, training script and graph inference code are included.</a:t>
            </a:r>
            <a:endParaRPr/>
          </a:p>
          <a:p xmlns:a="http://schemas.openxmlformats.org/drawingml/2006/main">
            <a:pPr marL="0" indent="0">
              <a:buNone/>
            </a:pPr>
            <a:r>
              <a:t>• Excel import, disruption simulation, resilience and route analysis modules exist.</a:t>
            </a:r>
            <a:endParaRPr/>
          </a:p>
          <a:p xmlns:a="http://schemas.openxmlformats.org/drawingml/2006/main">
            <a:pPr marL="0" indent="0">
              <a:buNone/>
            </a:pPr>
            <a:r>
              <a:t>• Measured accuracy/benchmark is not reported; scores are estimates.</a:t>
            </a:r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7BEC872-51AA-63F5-2481-E47DE3FC67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80E33B-3B1D-41CF-87B6-71715FF43E8C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24923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Workflow in the App</a:t>
            </a:r>
            <a:endParaRPr/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6121FA9-C133-42DC-AE3F-03306A98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47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1. Sign in and select a business workspace.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2. Import/check supply-chain data or open existing events.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3. Review affected entities, graph links, risk and delay estimates.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4. Change supplier disruption assumptions in the simulator.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5. Use history and diagnostics to review past events and system status.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4144535-CE65-4B17-BDC5-3172E345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7777"/>
                </a:solidFill>
                <a:latin typeface="Cambria"/>
                <a:ea typeface="Cambria"/>
                <a:cs typeface="Cambria"/>
              </a:defRPr>
            </a:pPr>
            <a:r>
              <a:rPr sz="1050">
                <a:solidFill>
                  <a:srgbClr val="777777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29973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Limits and Next Improvements</a:t>
            </a:r>
            <a:endParaRPr/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C48BDE3-FD14-4E48-BD2D-D09034CD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47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• NLP patterns and known locations are limited; exact names may not match.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• Delay/rule risk use fixed formulas, not measured shipment outcomes.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• GNN labels are heuristic; no held-out accuracy report is included.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• If checkpoint fails, code may score using random weights.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• Next: test with historical outcomes and flag missing model/data.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D99A09-30C4-4EE4-8949-F194609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7777"/>
                </a:solidFill>
                <a:latin typeface="Cambria"/>
                <a:ea typeface="Cambria"/>
                <a:cs typeface="Cambria"/>
              </a:defRPr>
            </a:pPr>
            <a:r>
              <a:rPr sz="1050">
                <a:solidFill>
                  <a:srgbClr val="777777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421004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Summary and References</a:t>
            </a:r>
            <a:endParaRPr/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847BCD8D-65F8-44AA-9DB0-16EAFD9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47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Screen → API → Python services → SQL + Neo4j → risk → dashboard.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SQLite = records; Neo4j = relationship map; rules + GCN = score.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Source code: backend/app, frontend/src, ml/ and neo4j/.</a:t>
            </a:r>
          </a:p>
          <a:p xmlns:a="http://schemas.openxmlformats.org/drawingml/2006/main">
            <a:pPr>
              <a:defRPr sz="2625">
                <a:solidFill>
                  <a:srgbClr val="111111"/>
                </a:solidFill>
                <a:latin typeface="Cambria"/>
                <a:ea typeface="Cambria"/>
                <a:cs typeface="Cambria"/>
              </a:defRPr>
            </a:pPr>
            <a:r>
              <a:rPr sz="2625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Training/tests: backend/train_gnn.py, backend/tests and models checkpoint.</a:t>
            </a:r>
          </a:p>
        </p:txBody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F12AFAB-CE8B-4300-9DE3-D2DB8471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7777"/>
                </a:solidFill>
                <a:latin typeface="Cambria"/>
                <a:ea typeface="Cambria"/>
                <a:cs typeface="Cambria"/>
              </a:defRPr>
            </a:pPr>
            <a:r>
              <a:rPr sz="1050">
                <a:solidFill>
                  <a:srgbClr val="777777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8554950"/>
      </p:ext>
    </p:extLst>
  </p:cSld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Pape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2026-09-30T10:33:54.8910000Z</dcterms:created>
  <dcterms:modified xsi:type="dcterms:W3CDTF">2026-09-30T10:33:54.8910000Z</dcterms:modified>
</coreProperties>
</file>