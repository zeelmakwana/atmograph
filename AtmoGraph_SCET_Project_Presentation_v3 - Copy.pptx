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20040"/>
            <a:ext cx="1012220" cy="1097280"/>
          </a:xfrm>
          <a:prstGeom prst="rect">
            <a:avLst/>
          </a:prstGeom>
        </p:spPr>
      </p:pic>
      <p:pic>
        <p:nvPicPr>
          <p:cNvPr id="3" name="Picture 2" descr="scet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9920" y="32004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828800" y="365760"/>
            <a:ext cx="853409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11827"/>
                </a:solidFill>
                <a:latin typeface="Times New Roman"/>
              </a:defRPr>
            </a:pPr>
            <a:r>
              <a:t>Sarvajanik College of Engineering and Technology</a:t>
            </a:r>
          </a:p>
          <a:p>
            <a:pPr algn="ctr">
              <a:defRPr sz="1600">
                <a:solidFill>
                  <a:srgbClr val="374151"/>
                </a:solidFill>
                <a:latin typeface="Arial"/>
              </a:defRPr>
            </a:pPr>
            <a:r>
              <a:t>Department of Computer Engineering</a:t>
            </a:r>
          </a:p>
          <a:p>
            <a:pPr algn="ctr">
              <a:defRPr sz="1300">
                <a:solidFill>
                  <a:srgbClr val="6B7280"/>
                </a:solidFill>
                <a:latin typeface="Arial"/>
              </a:defRPr>
            </a:pPr>
            <a:r>
              <a:t>Project-1 (Academic Year 2026-2027)</a:t>
            </a:r>
          </a:p>
        </p:txBody>
      </p:sp>
      <p:sp>
        <p:nvSpPr>
          <p:cNvPr id="5" name="Chevron 4"/>
          <p:cNvSpPr/>
          <p:nvPr/>
        </p:nvSpPr>
        <p:spPr>
          <a:xfrm>
            <a:off x="365760" y="1600200"/>
            <a:ext cx="868680" cy="502920"/>
          </a:xfrm>
          <a:prstGeom prst="chevron">
            <a:avLst/>
          </a:prstGeom>
          <a:solidFill>
            <a:srgbClr val="A61C1C"/>
          </a:solidFill>
          <a:ln>
            <a:solidFill>
              <a:srgbClr val="A6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828800"/>
            <a:ext cx="11430000" cy="36576"/>
          </a:xfrm>
          <a:prstGeom prst="rect">
            <a:avLst/>
          </a:prstGeom>
          <a:solidFill>
            <a:srgbClr val="7E8A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331720"/>
            <a:ext cx="10362895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600" b="1">
                <a:solidFill>
                  <a:srgbClr val="A61C1C"/>
                </a:solidFill>
                <a:latin typeface="Times New Roman"/>
              </a:defRPr>
            </a:pPr>
            <a:r>
              <a:t>AtmoGraph</a:t>
            </a:r>
          </a:p>
          <a:p>
            <a:pPr algn="ctr">
              <a:defRPr sz="2100" b="1">
                <a:solidFill>
                  <a:srgbClr val="111827"/>
                </a:solidFill>
                <a:latin typeface="Times New Roman"/>
              </a:defRPr>
            </a:pPr>
            <a:r>
              <a:t>AI-Powered Supply Chain Disruption &amp; Ripple-Effect Prediction Platform</a:t>
            </a:r>
          </a:p>
          <a:p>
            <a:pPr algn="ctr">
              <a:defRPr sz="1400">
                <a:solidFill>
                  <a:srgbClr val="6B7280"/>
                </a:solidFill>
                <a:latin typeface="Arial"/>
              </a:defRPr>
            </a:pPr>
            <a:r>
              <a:t>Excel Knowledge Graph • Real-Time News NLP • What-If Shock Simulation • Multi-Tenancy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846320"/>
            <a:ext cx="502920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11827"/>
                </a:solidFill>
                <a:latin typeface="Arial"/>
              </a:defRPr>
            </a:pPr>
            <a:r>
              <a:t>Presented By:</a:t>
            </a:r>
          </a:p>
          <a:p>
            <a:pPr>
              <a:defRPr sz="1300">
                <a:solidFill>
                  <a:srgbClr val="374151"/>
                </a:solidFill>
              </a:defRPr>
            </a:pPr>
            <a:r>
              <a:t>1. Zeel Makwana (Enrollment No: [230120107000])</a:t>
            </a:r>
          </a:p>
          <a:p>
            <a:pPr>
              <a:defRPr sz="1300">
                <a:solidFill>
                  <a:srgbClr val="374151"/>
                </a:solidFill>
              </a:defRPr>
            </a:pPr>
            <a:r>
              <a:t>2. Team Member 2 (Enrollment No: [230120107000])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0" y="4846320"/>
            <a:ext cx="438912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111827"/>
                </a:solidFill>
                <a:latin typeface="Arial"/>
              </a:defRPr>
            </a:pPr>
            <a:r>
              <a:t>Supervised By:</a:t>
            </a:r>
          </a:p>
          <a:p>
            <a:pPr algn="l">
              <a:defRPr sz="1300">
                <a:solidFill>
                  <a:srgbClr val="374151"/>
                </a:solidFill>
              </a:defRPr>
            </a:pPr>
            <a:r>
              <a:t>[Supervisor's Name]</a:t>
            </a:r>
          </a:p>
          <a:p>
            <a:pPr algn="l">
              <a:defRPr sz="1300">
                <a:solidFill>
                  <a:srgbClr val="374151"/>
                </a:solidFill>
              </a:defRPr>
            </a:pPr>
            <a:r>
              <a:t>Assistant Professor, Department of Computer Engineering</a:t>
            </a:r>
          </a:p>
          <a:p>
            <a:pPr algn="l">
              <a:defRPr sz="1300">
                <a:solidFill>
                  <a:srgbClr val="374151"/>
                </a:solidFill>
              </a:defRPr>
            </a:pPr>
            <a:r>
              <a:t>Sarvajanik College of Engineering and Technology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ce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182880"/>
            <a:ext cx="960120" cy="960120"/>
          </a:xfrm>
          <a:prstGeom prst="rect">
            <a:avLst/>
          </a:prstGeom>
        </p:spPr>
      </p:pic>
      <p:sp>
        <p:nvSpPr>
          <p:cNvPr id="3" name="Chevron 2"/>
          <p:cNvSpPr/>
          <p:nvPr/>
        </p:nvSpPr>
        <p:spPr>
          <a:xfrm>
            <a:off x="365760" y="1234440"/>
            <a:ext cx="868680" cy="502920"/>
          </a:xfrm>
          <a:prstGeom prst="chevron">
            <a:avLst/>
          </a:prstGeom>
          <a:solidFill>
            <a:srgbClr val="A61C1C"/>
          </a:solidFill>
          <a:ln>
            <a:solidFill>
              <a:srgbClr val="A6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1463040"/>
            <a:ext cx="11430000" cy="36576"/>
          </a:xfrm>
          <a:prstGeom prst="rect">
            <a:avLst/>
          </a:prstGeom>
          <a:solidFill>
            <a:srgbClr val="7E8A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25880" y="1005840"/>
            <a:ext cx="93268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11827"/>
                </a:solidFill>
                <a:latin typeface="Times New Roman"/>
              </a:defRPr>
            </a:pPr>
            <a:r>
              <a:t>What is AtmoGraph? (The Core Idea)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B7280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3474720" cy="3291840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057400"/>
            <a:ext cx="30175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E40AF"/>
                </a:solidFill>
                <a:latin typeface="Arial"/>
              </a:defRPr>
            </a:pPr>
            <a:r>
              <a:t>1. Flat Excel Ingestion</a:t>
            </a:r>
          </a:p>
          <a:p>
            <a:pPr>
              <a:spcBef>
                <a:spcPts val="1200"/>
              </a:spcBef>
              <a:defRPr sz="1300">
                <a:solidFill>
                  <a:srgbClr val="374151"/>
                </a:solidFill>
                <a:latin typeface="Arial"/>
              </a:defRPr>
            </a:pPr>
            <a:r>
              <a:t>✔  Upload raw spreadsheets</a:t>
            </a:r>
          </a:p>
          <a:p>
            <a:pPr>
              <a:spcBef>
                <a:spcPts val="1200"/>
              </a:spcBef>
              <a:defRPr sz="1300">
                <a:solidFill>
                  <a:srgbClr val="374151"/>
                </a:solidFill>
                <a:latin typeface="Arial"/>
              </a:defRPr>
            </a:pPr>
            <a:r>
              <a:t>✔  Suppliers, Materials &amp; BOM</a:t>
            </a:r>
          </a:p>
          <a:p>
            <a:pPr>
              <a:spcBef>
                <a:spcPts val="1200"/>
              </a:spcBef>
              <a:defRPr sz="1300">
                <a:solidFill>
                  <a:srgbClr val="374151"/>
                </a:solidFill>
                <a:latin typeface="Arial"/>
              </a:defRPr>
            </a:pPr>
            <a:r>
              <a:t>✔  Automatic data normalization</a:t>
            </a:r>
          </a:p>
          <a:p>
            <a:pPr>
              <a:spcBef>
                <a:spcPts val="1200"/>
              </a:spcBef>
              <a:defRPr sz="1300">
                <a:solidFill>
                  <a:srgbClr val="374151"/>
                </a:solidFill>
                <a:latin typeface="Arial"/>
              </a:defRPr>
            </a:pPr>
            <a:r>
              <a:t>✔  No manual schema setup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828800"/>
            <a:ext cx="3474720" cy="3291840"/>
          </a:xfrm>
          <a:prstGeom prst="roundRect">
            <a:avLst/>
          </a:prstGeom>
          <a:solidFill>
            <a:srgbClr val="F0FDF4"/>
          </a:solidFill>
          <a:ln w="1524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09159" y="2057400"/>
            <a:ext cx="30175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66534"/>
                </a:solidFill>
                <a:latin typeface="Arial"/>
              </a:defRPr>
            </a:pPr>
            <a:r>
              <a:t>2. Interactive Knowledge Graph</a:t>
            </a:r>
          </a:p>
          <a:p>
            <a:pPr>
              <a:spcBef>
                <a:spcPts val="1200"/>
              </a:spcBef>
              <a:defRPr sz="1300">
                <a:solidFill>
                  <a:srgbClr val="374151"/>
                </a:solidFill>
                <a:latin typeface="Arial"/>
              </a:defRPr>
            </a:pPr>
            <a:r>
              <a:t>✔  Converts rows to spider-web</a:t>
            </a:r>
          </a:p>
          <a:p>
            <a:pPr>
              <a:spcBef>
                <a:spcPts val="1200"/>
              </a:spcBef>
              <a:defRPr sz="1300">
                <a:solidFill>
                  <a:srgbClr val="374151"/>
                </a:solidFill>
                <a:latin typeface="Arial"/>
              </a:defRPr>
            </a:pPr>
            <a:r>
              <a:t>✔  SQLite + Neo4j Graph DB</a:t>
            </a:r>
          </a:p>
          <a:p>
            <a:pPr>
              <a:spcBef>
                <a:spcPts val="1200"/>
              </a:spcBef>
              <a:defRPr sz="1300">
                <a:solidFill>
                  <a:srgbClr val="374151"/>
                </a:solidFill>
                <a:latin typeface="Arial"/>
              </a:defRPr>
            </a:pPr>
            <a:r>
              <a:t>✔  Links Suppliers ➔ Plants ➔ SKUs</a:t>
            </a:r>
          </a:p>
          <a:p>
            <a:pPr>
              <a:spcBef>
                <a:spcPts val="1200"/>
              </a:spcBef>
              <a:defRPr sz="1300">
                <a:solidFill>
                  <a:srgbClr val="374151"/>
                </a:solidFill>
                <a:latin typeface="Arial"/>
              </a:defRPr>
            </a:pPr>
            <a:r>
              <a:t>✔  Multi-hop visual exploration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1828800"/>
            <a:ext cx="3474720" cy="3291840"/>
          </a:xfrm>
          <a:prstGeom prst="roundRect">
            <a:avLst/>
          </a:prstGeom>
          <a:solidFill>
            <a:srgbClr val="FEF2F2"/>
          </a:solidFill>
          <a:ln w="1524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58200" y="2057400"/>
            <a:ext cx="30175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A61C1C"/>
                </a:solidFill>
                <a:latin typeface="Arial"/>
              </a:defRPr>
            </a:pPr>
            <a:r>
              <a:t>3. AI Ripple Effect Predictor</a:t>
            </a:r>
          </a:p>
          <a:p>
            <a:pPr>
              <a:spcBef>
                <a:spcPts val="1200"/>
              </a:spcBef>
              <a:defRPr sz="1300">
                <a:solidFill>
                  <a:srgbClr val="374151"/>
                </a:solidFill>
                <a:latin typeface="Arial"/>
              </a:defRPr>
            </a:pPr>
            <a:r>
              <a:t>✔  Scans live news &amp; weather alerts</a:t>
            </a:r>
          </a:p>
          <a:p>
            <a:pPr>
              <a:spcBef>
                <a:spcPts val="1200"/>
              </a:spcBef>
              <a:defRPr sz="1300">
                <a:solidFill>
                  <a:srgbClr val="374151"/>
                </a:solidFill>
                <a:latin typeface="Arial"/>
              </a:defRPr>
            </a:pPr>
            <a:r>
              <a:t>✔  spaCy NLP finds affected vendors</a:t>
            </a:r>
          </a:p>
          <a:p>
            <a:pPr>
              <a:spcBef>
                <a:spcPts val="1200"/>
              </a:spcBef>
              <a:defRPr sz="1300">
                <a:solidFill>
                  <a:srgbClr val="374151"/>
                </a:solidFill>
                <a:latin typeface="Arial"/>
              </a:defRPr>
            </a:pPr>
            <a:r>
              <a:t>✔  Calculates factory delay days</a:t>
            </a:r>
          </a:p>
          <a:p>
            <a:pPr>
              <a:spcBef>
                <a:spcPts val="1200"/>
              </a:spcBef>
              <a:defRPr sz="1300">
                <a:solidFill>
                  <a:srgbClr val="374151"/>
                </a:solidFill>
                <a:latin typeface="Arial"/>
              </a:defRPr>
            </a:pPr>
            <a:r>
              <a:t>✔  Recommends backup suppliers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394960"/>
            <a:ext cx="10972800" cy="822960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440680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92400E"/>
                </a:solidFill>
              </a:defRPr>
            </a:pPr>
            <a:r>
              <a:t>💡 The Ripple Analogy: Just like dropping a stone in water creates waves that travel far...</a:t>
            </a:r>
          </a:p>
          <a:p>
            <a:pPr>
              <a:defRPr sz="1200">
                <a:solidFill>
                  <a:srgbClr val="374151"/>
                </a:solidFill>
              </a:defRPr>
            </a:pPr>
            <a:r>
              <a:t>A flood in Kannauj or a strike in Surat ripples across the entire chain — AtmoGraph warns you before your factory stops!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ce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182880"/>
            <a:ext cx="960120" cy="960120"/>
          </a:xfrm>
          <a:prstGeom prst="rect">
            <a:avLst/>
          </a:prstGeom>
        </p:spPr>
      </p:pic>
      <p:sp>
        <p:nvSpPr>
          <p:cNvPr id="3" name="Chevron 2"/>
          <p:cNvSpPr/>
          <p:nvPr/>
        </p:nvSpPr>
        <p:spPr>
          <a:xfrm>
            <a:off x="365760" y="1234440"/>
            <a:ext cx="868680" cy="502920"/>
          </a:xfrm>
          <a:prstGeom prst="chevron">
            <a:avLst/>
          </a:prstGeom>
          <a:solidFill>
            <a:srgbClr val="A61C1C"/>
          </a:solidFill>
          <a:ln>
            <a:solidFill>
              <a:srgbClr val="A6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1463040"/>
            <a:ext cx="11430000" cy="36576"/>
          </a:xfrm>
          <a:prstGeom prst="rect">
            <a:avLst/>
          </a:prstGeom>
          <a:solidFill>
            <a:srgbClr val="7E8A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25880" y="1005840"/>
            <a:ext cx="93268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11827"/>
                </a:solidFill>
                <a:latin typeface="Times New Roman"/>
              </a:defRPr>
            </a:pPr>
            <a:r>
              <a:t>Real-World Use Case: Mohilya Couture (Surat)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B7280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83080"/>
            <a:ext cx="10972800" cy="10058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74519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111827"/>
                </a:solidFill>
              </a:defRPr>
            </a:pPr>
            <a:r>
              <a:t>🏢 Target Business Profile: Mohilya Couture Pvt Ltd (Surat Textile Hub)</a:t>
            </a:r>
          </a:p>
          <a:p>
            <a:pPr>
              <a:spcBef>
                <a:spcPts val="400"/>
              </a:spcBef>
              <a:defRPr sz="1200">
                <a:solidFill>
                  <a:srgbClr val="374151"/>
                </a:solidFill>
              </a:defRPr>
            </a:pPr>
            <a:r>
              <a:t>• Finished Products: Kurti Sets, Designer Gowns, Lehengas  |  • Plant: Mohilya Manufacturing Unit (Surat)</a:t>
            </a:r>
          </a:p>
          <a:p>
            <a:pPr>
              <a:defRPr sz="1200">
                <a:solidFill>
                  <a:srgbClr val="6B7280"/>
                </a:solidFill>
              </a:defRPr>
            </a:pPr>
            <a:r>
              <a:t>• Key Suppliers: Ring Road Fabric Traders (S001), Pandesara Dyeing (S002), Sachin Mills (S003), Bhagal Lace (S004)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971800"/>
            <a:ext cx="2560320" cy="3291840"/>
          </a:xfrm>
          <a:prstGeom prst="roundRect">
            <a:avLst/>
          </a:prstGeom>
          <a:solidFill>
            <a:srgbClr val="FEF2F2"/>
          </a:solidFill>
          <a:ln w="1524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3154680"/>
            <a:ext cx="2231136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A61C1C"/>
                </a:solidFill>
                <a:latin typeface="Arial"/>
              </a:defRPr>
            </a:pPr>
            <a:r>
              <a:t>Step 1: The Disruption</a:t>
            </a:r>
          </a:p>
          <a:p>
            <a:pPr>
              <a:spcBef>
                <a:spcPts val="800"/>
              </a:spcBef>
              <a:defRPr sz="1200">
                <a:solidFill>
                  <a:srgbClr val="374151"/>
                </a:solidFill>
              </a:defRPr>
            </a:pPr>
            <a:r>
              <a:t>Breaking News arrives:</a:t>
            </a:r>
          </a:p>
          <a:p>
            <a:pPr>
              <a:spcBef>
                <a:spcPts val="800"/>
              </a:spcBef>
              <a:defRPr sz="1200">
                <a:solidFill>
                  <a:srgbClr val="374151"/>
                </a:solidFill>
              </a:defRPr>
            </a:pPr>
            <a:r>
              <a:t>'Surat Ring Road inundated</a:t>
            </a:r>
          </a:p>
          <a:p>
            <a:pPr>
              <a:spcBef>
                <a:spcPts val="800"/>
              </a:spcBef>
              <a:defRPr sz="1200">
                <a:solidFill>
                  <a:srgbClr val="374151"/>
                </a:solidFill>
              </a:defRPr>
            </a:pPr>
            <a:r>
              <a:t>with flood water; textile</a:t>
            </a:r>
          </a:p>
          <a:p>
            <a:pPr>
              <a:spcBef>
                <a:spcPts val="800"/>
              </a:spcBef>
              <a:defRPr sz="1200">
                <a:solidFill>
                  <a:srgbClr val="374151"/>
                </a:solidFill>
              </a:defRPr>
            </a:pPr>
            <a:r>
              <a:t>dispatch halted.'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0439" y="2971800"/>
            <a:ext cx="2560320" cy="3291840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85031" y="3154680"/>
            <a:ext cx="2231136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40AF"/>
                </a:solidFill>
                <a:latin typeface="Arial"/>
              </a:defRPr>
            </a:pPr>
            <a:r>
              <a:t>Step 2: NLP Detection</a:t>
            </a:r>
          </a:p>
          <a:p>
            <a:pPr>
              <a:spcBef>
                <a:spcPts val="800"/>
              </a:spcBef>
              <a:defRPr sz="1200">
                <a:solidFill>
                  <a:srgbClr val="374151"/>
                </a:solidFill>
              </a:defRPr>
            </a:pPr>
            <a:r>
              <a:t>spaCy NLP scans text:</a:t>
            </a:r>
          </a:p>
          <a:p>
            <a:pPr>
              <a:spcBef>
                <a:spcPts val="800"/>
              </a:spcBef>
              <a:defRPr sz="1200">
                <a:solidFill>
                  <a:srgbClr val="374151"/>
                </a:solidFill>
              </a:defRPr>
            </a:pPr>
            <a:r>
              <a:t>Detects Location: 'Ring Road'</a:t>
            </a:r>
          </a:p>
          <a:p>
            <a:pPr>
              <a:spcBef>
                <a:spcPts val="800"/>
              </a:spcBef>
              <a:defRPr sz="1200">
                <a:solidFill>
                  <a:srgbClr val="374151"/>
                </a:solidFill>
              </a:defRPr>
            </a:pPr>
            <a:r>
              <a:t>Fuzzy matches to: S001</a:t>
            </a:r>
          </a:p>
          <a:p>
            <a:pPr>
              <a:spcBef>
                <a:spcPts val="800"/>
              </a:spcBef>
              <a:defRPr sz="1200">
                <a:solidFill>
                  <a:srgbClr val="374151"/>
                </a:solidFill>
              </a:defRPr>
            </a:pPr>
            <a:r>
              <a:t>(Ring Road Fabric Traders)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59" y="2971800"/>
            <a:ext cx="2560320" cy="3291840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1" y="3154680"/>
            <a:ext cx="2231136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92400E"/>
                </a:solidFill>
                <a:latin typeface="Arial"/>
              </a:defRPr>
            </a:pPr>
            <a:r>
              <a:t>Step 3: Ripple Math</a:t>
            </a:r>
          </a:p>
          <a:p>
            <a:pPr>
              <a:spcBef>
                <a:spcPts val="800"/>
              </a:spcBef>
              <a:defRPr sz="1200">
                <a:solidFill>
                  <a:srgbClr val="374151"/>
                </a:solidFill>
              </a:defRPr>
            </a:pPr>
            <a:r>
              <a:t>Engine calculates:</a:t>
            </a:r>
          </a:p>
          <a:p>
            <a:pPr>
              <a:spcBef>
                <a:spcPts val="800"/>
              </a:spcBef>
              <a:defRPr sz="1200">
                <a:solidFill>
                  <a:srgbClr val="374151"/>
                </a:solidFill>
              </a:defRPr>
            </a:pPr>
            <a:r>
              <a:t>• Lost Fabric Supply: 1000m</a:t>
            </a:r>
          </a:p>
          <a:p>
            <a:pPr>
              <a:spcBef>
                <a:spcPts val="800"/>
              </a:spcBef>
              <a:defRPr sz="1200">
                <a:solidFill>
                  <a:srgbClr val="374151"/>
                </a:solidFill>
              </a:defRPr>
            </a:pPr>
            <a:r>
              <a:t>• Warehouse Buffer: 4 days</a:t>
            </a:r>
          </a:p>
          <a:p>
            <a:pPr>
              <a:spcBef>
                <a:spcPts val="800"/>
              </a:spcBef>
              <a:defRPr sz="1200">
                <a:solidFill>
                  <a:srgbClr val="374151"/>
                </a:solidFill>
              </a:defRPr>
            </a:pPr>
            <a:r>
              <a:t>• Delay Forecast: +7 days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98280" y="2971800"/>
            <a:ext cx="2560320" cy="3291840"/>
          </a:xfrm>
          <a:prstGeom prst="roundRect">
            <a:avLst/>
          </a:prstGeom>
          <a:solidFill>
            <a:srgbClr val="F0FDF4"/>
          </a:solidFill>
          <a:ln w="1524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62872" y="3154680"/>
            <a:ext cx="2231136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66534"/>
                </a:solidFill>
                <a:latin typeface="Arial"/>
              </a:defRPr>
            </a:pPr>
            <a:r>
              <a:t>Step 4: Smart Rerouting</a:t>
            </a:r>
          </a:p>
          <a:p>
            <a:pPr>
              <a:spcBef>
                <a:spcPts val="800"/>
              </a:spcBef>
              <a:defRPr sz="1200">
                <a:solidFill>
                  <a:srgbClr val="374151"/>
                </a:solidFill>
              </a:defRPr>
            </a:pPr>
            <a:r>
              <a:t>Actionable Solution:</a:t>
            </a:r>
          </a:p>
          <a:p>
            <a:pPr>
              <a:spcBef>
                <a:spcPts val="800"/>
              </a:spcBef>
              <a:defRPr sz="1200">
                <a:solidFill>
                  <a:srgbClr val="374151"/>
                </a:solidFill>
              </a:defRPr>
            </a:pPr>
            <a:r>
              <a:t>Reroute orders to backup</a:t>
            </a:r>
          </a:p>
          <a:p>
            <a:pPr>
              <a:spcBef>
                <a:spcPts val="800"/>
              </a:spcBef>
              <a:defRPr sz="1200">
                <a:solidFill>
                  <a:srgbClr val="374151"/>
                </a:solidFill>
              </a:defRPr>
            </a:pPr>
            <a:r>
              <a:t>Sachin Mills (35% spare</a:t>
            </a:r>
          </a:p>
          <a:p>
            <a:pPr>
              <a:spcBef>
                <a:spcPts val="800"/>
              </a:spcBef>
              <a:defRPr sz="1200">
                <a:solidFill>
                  <a:srgbClr val="374151"/>
                </a:solidFill>
              </a:defRPr>
            </a:pPr>
            <a:r>
              <a:t>capacity) before factory halts!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ce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182880"/>
            <a:ext cx="960120" cy="960120"/>
          </a:xfrm>
          <a:prstGeom prst="rect">
            <a:avLst/>
          </a:prstGeom>
        </p:spPr>
      </p:pic>
      <p:sp>
        <p:nvSpPr>
          <p:cNvPr id="3" name="Chevron 2"/>
          <p:cNvSpPr/>
          <p:nvPr/>
        </p:nvSpPr>
        <p:spPr>
          <a:xfrm>
            <a:off x="365760" y="1234440"/>
            <a:ext cx="868680" cy="502920"/>
          </a:xfrm>
          <a:prstGeom prst="chevron">
            <a:avLst/>
          </a:prstGeom>
          <a:solidFill>
            <a:srgbClr val="A61C1C"/>
          </a:solidFill>
          <a:ln>
            <a:solidFill>
              <a:srgbClr val="A6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1463040"/>
            <a:ext cx="11430000" cy="36576"/>
          </a:xfrm>
          <a:prstGeom prst="rect">
            <a:avLst/>
          </a:prstGeom>
          <a:solidFill>
            <a:srgbClr val="7E8A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25880" y="1005840"/>
            <a:ext cx="93268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11827"/>
                </a:solidFill>
                <a:latin typeface="Times New Roman"/>
              </a:defRPr>
            </a:pPr>
            <a:r>
              <a:t>End-to-End System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B7280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920240"/>
            <a:ext cx="2057400" cy="34747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14400" y="2148840"/>
            <a:ext cx="1691640" cy="45720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200">
                <a:solidFill>
                  <a:srgbClr val="1E40AF"/>
                </a:solidFill>
              </a:defRPr>
            </a:pPr>
            <a:r>
              <a:t>Step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743200"/>
            <a:ext cx="16916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A61C1C"/>
                </a:solidFill>
              </a:defRPr>
            </a:pPr>
            <a:r>
              <a:t>Data Ingestion</a:t>
            </a:r>
          </a:p>
          <a:p>
            <a:pPr>
              <a:spcBef>
                <a:spcPts val="1200"/>
              </a:spcBef>
              <a:defRPr sz="1200">
                <a:solidFill>
                  <a:srgbClr val="374151"/>
                </a:solidFill>
              </a:defRPr>
            </a:pPr>
            <a:r>
              <a:t>User uploads Excel / JSON workbooks with Suppliers, Materials, BOM &amp; Routes.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825496" y="3383280"/>
            <a:ext cx="146304" cy="274320"/>
          </a:xfrm>
          <a:prstGeom prst="rightArrow">
            <a:avLst/>
          </a:prstGeom>
          <a:solidFill>
            <a:srgbClr val="7E8A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971800" y="1920240"/>
            <a:ext cx="2057400" cy="34747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154680" y="2148840"/>
            <a:ext cx="1691640" cy="45720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200">
                <a:solidFill>
                  <a:srgbClr val="1E40AF"/>
                </a:solidFill>
              </a:defRPr>
            </a:pPr>
            <a:r>
              <a:t>Step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54680" y="2743200"/>
            <a:ext cx="16916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A61C1C"/>
                </a:solidFill>
              </a:defRPr>
            </a:pPr>
            <a:r>
              <a:t>Graph Building</a:t>
            </a:r>
          </a:p>
          <a:p>
            <a:pPr>
              <a:spcBef>
                <a:spcPts val="1200"/>
              </a:spcBef>
              <a:defRPr sz="1200">
                <a:solidFill>
                  <a:srgbClr val="374151"/>
                </a:solidFill>
              </a:defRPr>
            </a:pPr>
            <a:r>
              <a:t>SQLite stores normalized tables; Neo4j links nodes &amp; relationships.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065776" y="3383280"/>
            <a:ext cx="146304" cy="274320"/>
          </a:xfrm>
          <a:prstGeom prst="rightArrow">
            <a:avLst/>
          </a:prstGeom>
          <a:solidFill>
            <a:srgbClr val="7E8A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212080" y="1920240"/>
            <a:ext cx="2057400" cy="34747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394960" y="2148840"/>
            <a:ext cx="1691640" cy="45720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200">
                <a:solidFill>
                  <a:srgbClr val="1E40AF"/>
                </a:solidFill>
              </a:defRPr>
            </a:pPr>
            <a:r>
              <a:t>Step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94960" y="2743200"/>
            <a:ext cx="16916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A61C1C"/>
                </a:solidFill>
              </a:defRPr>
            </a:pPr>
            <a:r>
              <a:t>Live News Scan</a:t>
            </a:r>
          </a:p>
          <a:p>
            <a:pPr>
              <a:spcBef>
                <a:spcPts val="1200"/>
              </a:spcBef>
              <a:defRPr sz="1200">
                <a:solidFill>
                  <a:srgbClr val="374151"/>
                </a:solidFill>
              </a:defRPr>
            </a:pPr>
            <a:r>
              <a:t>spaCy NLP &amp; RSS feeds extract locations, disruption types &amp; severities.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7306056" y="3383280"/>
            <a:ext cx="146304" cy="274320"/>
          </a:xfrm>
          <a:prstGeom prst="rightArrow">
            <a:avLst/>
          </a:prstGeom>
          <a:solidFill>
            <a:srgbClr val="7E8A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452360" y="1920240"/>
            <a:ext cx="2057400" cy="34747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635240" y="2148840"/>
            <a:ext cx="1691640" cy="45720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200">
                <a:solidFill>
                  <a:srgbClr val="1E40AF"/>
                </a:solidFill>
              </a:defRPr>
            </a:pPr>
            <a:r>
              <a:t>Step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35240" y="2743200"/>
            <a:ext cx="16916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A61C1C"/>
                </a:solidFill>
              </a:defRPr>
            </a:pPr>
            <a:r>
              <a:t>Hybrid Simulation</a:t>
            </a:r>
          </a:p>
          <a:p>
            <a:pPr>
              <a:spcBef>
                <a:spcPts val="1200"/>
              </a:spcBef>
              <a:defRPr sz="1200">
                <a:solidFill>
                  <a:srgbClr val="374151"/>
                </a:solidFill>
              </a:defRPr>
            </a:pPr>
            <a:r>
              <a:t>Disruption Engine computes shortage math; PyG GNN scores node risks.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9546336" y="3383280"/>
            <a:ext cx="146304" cy="274320"/>
          </a:xfrm>
          <a:prstGeom prst="rightArrow">
            <a:avLst/>
          </a:prstGeom>
          <a:solidFill>
            <a:srgbClr val="7E8A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692640" y="1920240"/>
            <a:ext cx="2057400" cy="34747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875520" y="2148840"/>
            <a:ext cx="1691640" cy="45720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200">
                <a:solidFill>
                  <a:srgbClr val="1E40AF"/>
                </a:solidFill>
              </a:defRPr>
            </a:pPr>
            <a:r>
              <a:t>Step 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75520" y="2743200"/>
            <a:ext cx="16916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A61C1C"/>
                </a:solidFill>
              </a:defRPr>
            </a:pPr>
            <a:r>
              <a:t>Live Visual UI</a:t>
            </a:r>
          </a:p>
          <a:p>
            <a:pPr>
              <a:spcBef>
                <a:spcPts val="1200"/>
              </a:spcBef>
              <a:defRPr sz="1200">
                <a:solidFill>
                  <a:srgbClr val="374151"/>
                </a:solidFill>
              </a:defRPr>
            </a:pPr>
            <a:r>
              <a:t>ReactFlow renders spider-web graph; WebSocket pushes real-time alerts.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5577840"/>
            <a:ext cx="10972800" cy="640080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623560"/>
            <a:ext cx="10607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300">
                <a:solidFill>
                  <a:srgbClr val="1E40AF"/>
                </a:solidFill>
              </a:defRPr>
            </a:pPr>
            <a:r>
              <a:t>⚡ Sub-Second Speed: Raw Excel ingested in &lt; 2.5s  |  Full Ripple Simulation calculated in &lt; 350ms!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ce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182880"/>
            <a:ext cx="960120" cy="960120"/>
          </a:xfrm>
          <a:prstGeom prst="rect">
            <a:avLst/>
          </a:prstGeom>
        </p:spPr>
      </p:pic>
      <p:sp>
        <p:nvSpPr>
          <p:cNvPr id="3" name="Chevron 2"/>
          <p:cNvSpPr/>
          <p:nvPr/>
        </p:nvSpPr>
        <p:spPr>
          <a:xfrm>
            <a:off x="365760" y="1234440"/>
            <a:ext cx="868680" cy="502920"/>
          </a:xfrm>
          <a:prstGeom prst="chevron">
            <a:avLst/>
          </a:prstGeom>
          <a:solidFill>
            <a:srgbClr val="A61C1C"/>
          </a:solidFill>
          <a:ln>
            <a:solidFill>
              <a:srgbClr val="A6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1463040"/>
            <a:ext cx="11430000" cy="36576"/>
          </a:xfrm>
          <a:prstGeom prst="rect">
            <a:avLst/>
          </a:prstGeom>
          <a:solidFill>
            <a:srgbClr val="7E8A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25880" y="1005840"/>
            <a:ext cx="93268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11827"/>
                </a:solidFill>
                <a:latin typeface="Times New Roman"/>
              </a:defRPr>
            </a:pPr>
            <a:r>
              <a:t>System Architecture: 3-Tier Layered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B7280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3474720" cy="4297680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029968"/>
            <a:ext cx="3017520" cy="3895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40AF"/>
                </a:solidFill>
                <a:latin typeface="Arial"/>
              </a:defRPr>
            </a:pPr>
            <a:r>
              <a:t>Layer 1: Frontend (Client UI)</a:t>
            </a:r>
          </a:p>
          <a:p>
            <a:pPr>
              <a:spcBef>
                <a:spcPts val="1000"/>
              </a:spcBef>
            </a:pPr>
            <a:r>
              <a:rPr b="1" sz="1200">
                <a:solidFill>
                  <a:srgbClr val="111827"/>
                </a:solidFill>
              </a:rPr>
              <a:t>• Framework: </a:t>
            </a:r>
            <a:r>
              <a:rPr b="0" sz="1200">
                <a:solidFill>
                  <a:srgbClr val="374151"/>
                </a:solidFill>
              </a:rPr>
              <a:t>React 18/19 with TypeScript &amp; Vite 8</a:t>
            </a:r>
          </a:p>
          <a:p>
            <a:pPr>
              <a:spcBef>
                <a:spcPts val="1000"/>
              </a:spcBef>
            </a:pPr>
            <a:r>
              <a:rPr b="1" sz="1200">
                <a:solidFill>
                  <a:srgbClr val="111827"/>
                </a:solidFill>
              </a:rPr>
              <a:t>• Graph Canvas: </a:t>
            </a:r>
            <a:r>
              <a:rPr b="0" sz="1200">
                <a:solidFill>
                  <a:srgbClr val="374151"/>
                </a:solidFill>
              </a:rPr>
              <a:t>ReactFlow (@xyflow/react) interactive nodes</a:t>
            </a:r>
          </a:p>
          <a:p>
            <a:pPr>
              <a:spcBef>
                <a:spcPts val="1000"/>
              </a:spcBef>
            </a:pPr>
            <a:r>
              <a:rPr b="1" sz="1200">
                <a:solidFill>
                  <a:srgbClr val="111827"/>
                </a:solidFill>
              </a:rPr>
              <a:t>• Design Theme: </a:t>
            </a:r>
            <a:r>
              <a:rPr b="0" sz="1200">
                <a:solidFill>
                  <a:srgbClr val="374151"/>
                </a:solidFill>
              </a:rPr>
              <a:t>Obsidian Glass UI (#0a0a0b + Amber Gold)</a:t>
            </a:r>
          </a:p>
          <a:p>
            <a:pPr>
              <a:spcBef>
                <a:spcPts val="1000"/>
              </a:spcBef>
            </a:pPr>
            <a:r>
              <a:rPr b="1" sz="1200">
                <a:solidFill>
                  <a:srgbClr val="111827"/>
                </a:solidFill>
              </a:rPr>
              <a:t>• Real-Time: </a:t>
            </a:r>
            <a:r>
              <a:rPr b="0" sz="1200">
                <a:solidFill>
                  <a:srgbClr val="374151"/>
                </a:solidFill>
              </a:rPr>
              <a:t>WebSocket client for zero-refresh alert push</a:t>
            </a:r>
          </a:p>
          <a:p>
            <a:pPr>
              <a:spcBef>
                <a:spcPts val="1000"/>
              </a:spcBef>
            </a:pPr>
            <a:r>
              <a:rPr b="1" sz="1200">
                <a:solidFill>
                  <a:srgbClr val="111827"/>
                </a:solidFill>
              </a:rPr>
              <a:t>• Security Gate: </a:t>
            </a:r>
            <a:r>
              <a:rPr b="0" sz="1200">
                <a:solidFill>
                  <a:srgbClr val="374151"/>
                </a:solidFill>
              </a:rPr>
              <a:t>JWT Token stored in LocalStorage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828800"/>
            <a:ext cx="3474720" cy="4297680"/>
          </a:xfrm>
          <a:prstGeom prst="roundRect">
            <a:avLst/>
          </a:prstGeom>
          <a:solidFill>
            <a:srgbClr val="FEF2F2"/>
          </a:solidFill>
          <a:ln w="1524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09159" y="2029968"/>
            <a:ext cx="3017520" cy="3895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A61C1C"/>
                </a:solidFill>
                <a:latin typeface="Arial"/>
              </a:defRPr>
            </a:pPr>
            <a:r>
              <a:t>Layer 2: Backend (Brain &amp; Engine)</a:t>
            </a:r>
          </a:p>
          <a:p>
            <a:pPr>
              <a:spcBef>
                <a:spcPts val="1000"/>
              </a:spcBef>
            </a:pPr>
            <a:r>
              <a:rPr b="1" sz="1200">
                <a:solidFill>
                  <a:srgbClr val="111827"/>
                </a:solidFill>
              </a:rPr>
              <a:t>• API Server: </a:t>
            </a:r>
            <a:r>
              <a:rPr b="0" sz="1200">
                <a:solidFill>
                  <a:srgbClr val="374151"/>
                </a:solidFill>
              </a:rPr>
              <a:t>FastAPI (Python 3.12) async microservices</a:t>
            </a:r>
          </a:p>
          <a:p>
            <a:pPr>
              <a:spcBef>
                <a:spcPts val="1000"/>
              </a:spcBef>
            </a:pPr>
            <a:r>
              <a:rPr b="1" sz="1200">
                <a:solidFill>
                  <a:srgbClr val="111827"/>
                </a:solidFill>
              </a:rPr>
              <a:t>• NLP Engine: </a:t>
            </a:r>
            <a:r>
              <a:rPr b="0" sz="1200">
                <a:solidFill>
                  <a:srgbClr val="374151"/>
                </a:solidFill>
              </a:rPr>
              <a:t>spaCy (en_core_web_sm) location &amp; entity NER</a:t>
            </a:r>
          </a:p>
          <a:p>
            <a:pPr>
              <a:spcBef>
                <a:spcPts val="1000"/>
              </a:spcBef>
            </a:pPr>
            <a:r>
              <a:rPr b="1" sz="1200">
                <a:solidFill>
                  <a:srgbClr val="111827"/>
                </a:solidFill>
              </a:rPr>
              <a:t>• Ripple Engine: </a:t>
            </a:r>
            <a:r>
              <a:rPr b="0" sz="1200">
                <a:solidFill>
                  <a:srgbClr val="374151"/>
                </a:solidFill>
              </a:rPr>
              <a:t>Deterministic buffer stock &amp; lead time math</a:t>
            </a:r>
          </a:p>
          <a:p>
            <a:pPr>
              <a:spcBef>
                <a:spcPts val="1000"/>
              </a:spcBef>
            </a:pPr>
            <a:r>
              <a:rPr b="1" sz="1200">
                <a:solidFill>
                  <a:srgbClr val="111827"/>
                </a:solidFill>
              </a:rPr>
              <a:t>• Graph AI: </a:t>
            </a:r>
            <a:r>
              <a:rPr b="0" sz="1200">
                <a:solidFill>
                  <a:srgbClr val="374151"/>
                </a:solidFill>
              </a:rPr>
              <a:t>PyTorch Geometric (PyG) 2-layer GCN model</a:t>
            </a:r>
          </a:p>
          <a:p>
            <a:pPr>
              <a:spcBef>
                <a:spcPts val="1000"/>
              </a:spcBef>
            </a:pPr>
            <a:r>
              <a:rPr b="1" sz="1200">
                <a:solidFill>
                  <a:srgbClr val="111827"/>
                </a:solidFill>
              </a:rPr>
              <a:t>• Validation: </a:t>
            </a:r>
            <a:r>
              <a:rPr b="0" sz="1200">
                <a:solidFill>
                  <a:srgbClr val="374151"/>
                </a:solidFill>
              </a:rPr>
              <a:t>Pydantic v2 strict data schemas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1828800"/>
            <a:ext cx="3474720" cy="4297680"/>
          </a:xfrm>
          <a:prstGeom prst="roundRect">
            <a:avLst/>
          </a:prstGeom>
          <a:solidFill>
            <a:srgbClr val="F0FDF4"/>
          </a:solidFill>
          <a:ln w="1524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58200" y="2029968"/>
            <a:ext cx="3017520" cy="3895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66534"/>
                </a:solidFill>
                <a:latin typeface="Arial"/>
              </a:defRPr>
            </a:pPr>
            <a:r>
              <a:t>Layer 3: Storage (Data Vault)</a:t>
            </a:r>
          </a:p>
          <a:p>
            <a:pPr>
              <a:spcBef>
                <a:spcPts val="1000"/>
              </a:spcBef>
            </a:pPr>
            <a:r>
              <a:rPr b="1" sz="1200">
                <a:solidFill>
                  <a:srgbClr val="111827"/>
                </a:solidFill>
              </a:rPr>
              <a:t>• Relational DB: </a:t>
            </a:r>
            <a:r>
              <a:rPr b="0" sz="1200">
                <a:solidFill>
                  <a:srgbClr val="374151"/>
                </a:solidFill>
              </a:rPr>
              <a:t>SQLite (atmograph.db) via SQLAlchemy ORM</a:t>
            </a:r>
          </a:p>
          <a:p>
            <a:pPr>
              <a:spcBef>
                <a:spcPts val="1000"/>
              </a:spcBef>
            </a:pPr>
            <a:r>
              <a:rPr b="1" sz="1200">
                <a:solidFill>
                  <a:srgbClr val="111827"/>
                </a:solidFill>
              </a:rPr>
              <a:t>• Graph Database: </a:t>
            </a:r>
            <a:r>
              <a:rPr b="0" sz="1200">
                <a:solidFill>
                  <a:srgbClr val="374151"/>
                </a:solidFill>
              </a:rPr>
              <a:t>Neo4j 5.x via Bolt Protocol (Port 7687)</a:t>
            </a:r>
          </a:p>
          <a:p>
            <a:pPr>
              <a:spcBef>
                <a:spcPts val="1000"/>
              </a:spcBef>
            </a:pPr>
            <a:r>
              <a:rPr b="1" sz="1200">
                <a:solidFill>
                  <a:srgbClr val="111827"/>
                </a:solidFill>
              </a:rPr>
              <a:t>• Cypher Queries: </a:t>
            </a:r>
            <a:r>
              <a:rPr b="0" sz="1200">
                <a:solidFill>
                  <a:srgbClr val="374151"/>
                </a:solidFill>
              </a:rPr>
              <a:t>Multi-hop graph traversal (1 to 5 hops)</a:t>
            </a:r>
          </a:p>
          <a:p>
            <a:pPr>
              <a:spcBef>
                <a:spcPts val="1000"/>
              </a:spcBef>
            </a:pPr>
            <a:r>
              <a:rPr b="1" sz="1200">
                <a:solidFill>
                  <a:srgbClr val="111827"/>
                </a:solidFill>
              </a:rPr>
              <a:t>• Multi-Tenancy: </a:t>
            </a:r>
            <a:r>
              <a:rPr b="0" sz="1200">
                <a:solidFill>
                  <a:srgbClr val="374151"/>
                </a:solidFill>
              </a:rPr>
              <a:t>Strict tenant isolation via user_id column</a:t>
            </a:r>
          </a:p>
          <a:p>
            <a:pPr>
              <a:spcBef>
                <a:spcPts val="1000"/>
              </a:spcBef>
            </a:pPr>
            <a:r>
              <a:rPr b="1" sz="1200">
                <a:solidFill>
                  <a:srgbClr val="111827"/>
                </a:solidFill>
              </a:rPr>
              <a:t>• Excel Storage: </a:t>
            </a:r>
            <a:r>
              <a:rPr b="0" sz="1200">
                <a:solidFill>
                  <a:srgbClr val="374151"/>
                </a:solidFill>
              </a:rPr>
              <a:t>data/imports/ secure temporary vault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ce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182880"/>
            <a:ext cx="960120" cy="960120"/>
          </a:xfrm>
          <a:prstGeom prst="rect">
            <a:avLst/>
          </a:prstGeom>
        </p:spPr>
      </p:pic>
      <p:sp>
        <p:nvSpPr>
          <p:cNvPr id="3" name="Chevron 2"/>
          <p:cNvSpPr/>
          <p:nvPr/>
        </p:nvSpPr>
        <p:spPr>
          <a:xfrm>
            <a:off x="365760" y="1234440"/>
            <a:ext cx="868680" cy="502920"/>
          </a:xfrm>
          <a:prstGeom prst="chevron">
            <a:avLst/>
          </a:prstGeom>
          <a:solidFill>
            <a:srgbClr val="A61C1C"/>
          </a:solidFill>
          <a:ln>
            <a:solidFill>
              <a:srgbClr val="A6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1463040"/>
            <a:ext cx="11430000" cy="36576"/>
          </a:xfrm>
          <a:prstGeom prst="rect">
            <a:avLst/>
          </a:prstGeom>
          <a:solidFill>
            <a:srgbClr val="7E8A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25880" y="1005840"/>
            <a:ext cx="93268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11827"/>
                </a:solidFill>
                <a:latin typeface="Times New Roman"/>
              </a:defRPr>
            </a:pPr>
            <a:r>
              <a:t>Core Workflow Studio Modules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B7280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5303520" cy="2057400"/>
          </a:xfrm>
          <a:prstGeom prst="roundRect">
            <a:avLst/>
          </a:prstGeom>
          <a:solidFill>
            <a:srgbClr val="FEF2F2"/>
          </a:solidFill>
          <a:ln w="1524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993392"/>
            <a:ext cx="4846320" cy="1728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A61C1C"/>
                </a:solidFill>
                <a:latin typeface="Arial"/>
              </a:defRPr>
            </a:pPr>
            <a:r>
              <a:t>1. Ripple Predictor Studio</a:t>
            </a:r>
          </a:p>
          <a:p>
            <a:pPr>
              <a:spcBef>
                <a:spcPts val="400"/>
              </a:spcBef>
              <a:defRPr sz="1100">
                <a:solidFill>
                  <a:srgbClr val="374151"/>
                </a:solidFill>
              </a:defRPr>
            </a:pPr>
            <a:r>
              <a:t>• Executive Health Score (0-100%)</a:t>
            </a:r>
          </a:p>
          <a:p>
            <a:pPr>
              <a:spcBef>
                <a:spcPts val="400"/>
              </a:spcBef>
              <a:defRPr sz="1100">
                <a:solidFill>
                  <a:srgbClr val="374151"/>
                </a:solidFill>
              </a:defRPr>
            </a:pPr>
            <a:r>
              <a:t>• Active Disruption Badges (Critical / High / Medium)</a:t>
            </a:r>
          </a:p>
          <a:p>
            <a:pPr>
              <a:spcBef>
                <a:spcPts val="400"/>
              </a:spcBef>
              <a:defRPr sz="1100">
                <a:solidFill>
                  <a:srgbClr val="374151"/>
                </a:solidFill>
              </a:defRPr>
            </a:pPr>
            <a:r>
              <a:t>• Vulnerability Index highlighting single-source bottlenecks</a:t>
            </a:r>
          </a:p>
          <a:p>
            <a:pPr>
              <a:spcBef>
                <a:spcPts val="400"/>
              </a:spcBef>
              <a:defRPr sz="1100">
                <a:solidFill>
                  <a:srgbClr val="374151"/>
                </a:solidFill>
              </a:defRPr>
            </a:pPr>
            <a:r>
              <a:t>• Summary of affected suppliers and products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828800"/>
            <a:ext cx="5303520" cy="2057400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993392"/>
            <a:ext cx="4846320" cy="1728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40AF"/>
                </a:solidFill>
                <a:latin typeface="Arial"/>
              </a:defRPr>
            </a:pPr>
            <a:r>
              <a:t>2. Interactive Supply Graph</a:t>
            </a:r>
          </a:p>
          <a:p>
            <a:pPr>
              <a:spcBef>
                <a:spcPts val="400"/>
              </a:spcBef>
              <a:defRPr sz="1100">
                <a:solidFill>
                  <a:srgbClr val="374151"/>
                </a:solidFill>
              </a:defRPr>
            </a:pPr>
            <a:r>
              <a:t>• Visual network of Suppliers ➔ Materials ➔ Plants ➔ Products</a:t>
            </a:r>
          </a:p>
          <a:p>
            <a:pPr>
              <a:spcBef>
                <a:spcPts val="400"/>
              </a:spcBef>
              <a:defRPr sz="1100">
                <a:solidFill>
                  <a:srgbClr val="374151"/>
                </a:solidFill>
              </a:defRPr>
            </a:pPr>
            <a:r>
              <a:t>• Drag, zoom, pan &amp; Minimap navigation via ReactFlow</a:t>
            </a:r>
          </a:p>
          <a:p>
            <a:pPr>
              <a:spcBef>
                <a:spcPts val="400"/>
              </a:spcBef>
              <a:defRPr sz="1100">
                <a:solidFill>
                  <a:srgbClr val="374151"/>
                </a:solidFill>
              </a:defRPr>
            </a:pPr>
            <a:r>
              <a:t>• Node Inspector: Click any node to see lead times &amp; inventory</a:t>
            </a:r>
          </a:p>
          <a:p>
            <a:pPr>
              <a:spcBef>
                <a:spcPts val="400"/>
              </a:spcBef>
              <a:defRPr sz="1100">
                <a:solidFill>
                  <a:srgbClr val="374151"/>
                </a:solidFill>
              </a:defRPr>
            </a:pPr>
            <a:r>
              <a:t>• Color-coded node status (Green=Normal, Red=Disrupted)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114800"/>
            <a:ext cx="5303520" cy="2057400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279392"/>
            <a:ext cx="4846320" cy="1728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92400E"/>
                </a:solidFill>
                <a:latin typeface="Arial"/>
              </a:defRPr>
            </a:pPr>
            <a:r>
              <a:t>3. What-If Disruption Simulator</a:t>
            </a:r>
          </a:p>
          <a:p>
            <a:pPr>
              <a:spcBef>
                <a:spcPts val="400"/>
              </a:spcBef>
              <a:defRPr sz="1100">
                <a:solidFill>
                  <a:srgbClr val="374151"/>
                </a:solidFill>
              </a:defRPr>
            </a:pPr>
            <a:r>
              <a:t>• Interactive Sandbox: Select any supplier and simulate failure</a:t>
            </a:r>
          </a:p>
          <a:p>
            <a:pPr>
              <a:spcBef>
                <a:spcPts val="400"/>
              </a:spcBef>
              <a:defRPr sz="1100">
                <a:solidFill>
                  <a:srgbClr val="374151"/>
                </a:solidFill>
              </a:defRPr>
            </a:pPr>
            <a:r>
              <a:t>• Calculates Gross Lost Units and Spare Capacity Recovery</a:t>
            </a:r>
          </a:p>
          <a:p>
            <a:pPr>
              <a:spcBef>
                <a:spcPts val="400"/>
              </a:spcBef>
              <a:defRPr sz="1100">
                <a:solidFill>
                  <a:srgbClr val="374151"/>
                </a:solidFill>
              </a:defRPr>
            </a:pPr>
            <a:r>
              <a:t>• Forecasts Factory Downtime and Net Shortage in days</a:t>
            </a:r>
          </a:p>
          <a:p>
            <a:pPr>
              <a:spcBef>
                <a:spcPts val="400"/>
              </a:spcBef>
              <a:defRPr sz="1100">
                <a:solidFill>
                  <a:srgbClr val="374151"/>
                </a:solidFill>
              </a:defRPr>
            </a:pPr>
            <a:r>
              <a:t>• Visualizes inventory buffer countdown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4114800"/>
            <a:ext cx="5303520" cy="2057400"/>
          </a:xfrm>
          <a:prstGeom prst="roundRect">
            <a:avLst/>
          </a:prstGeom>
          <a:solidFill>
            <a:srgbClr val="F0FDF4"/>
          </a:solidFill>
          <a:ln w="1524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4279392"/>
            <a:ext cx="4846320" cy="1728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66534"/>
                </a:solidFill>
                <a:latin typeface="Arial"/>
              </a:defRPr>
            </a:pPr>
            <a:r>
              <a:t>4. Excel / JSON Ingestion Engine</a:t>
            </a:r>
          </a:p>
          <a:p>
            <a:pPr>
              <a:spcBef>
                <a:spcPts val="400"/>
              </a:spcBef>
              <a:defRPr sz="1100">
                <a:solidFill>
                  <a:srgbClr val="374151"/>
                </a:solidFill>
              </a:defRPr>
            </a:pPr>
            <a:r>
              <a:t>• 1-Click Drag-and-Drop file uploader (.xlsx / JSON)</a:t>
            </a:r>
          </a:p>
          <a:p>
            <a:pPr>
              <a:spcBef>
                <a:spcPts val="400"/>
              </a:spcBef>
              <a:defRPr sz="1100">
                <a:solidFill>
                  <a:srgbClr val="374151"/>
                </a:solidFill>
              </a:defRPr>
            </a:pPr>
            <a:r>
              <a:t>• Intelligent synonym mapping (BOM ➔ Dependencies, etc.)</a:t>
            </a:r>
          </a:p>
          <a:p>
            <a:pPr>
              <a:spcBef>
                <a:spcPts val="400"/>
              </a:spcBef>
              <a:defRPr sz="1100">
                <a:solidFill>
                  <a:srgbClr val="374151"/>
                </a:solidFill>
              </a:defRPr>
            </a:pPr>
            <a:r>
              <a:t>• Automatic validation, NaN cleanup &amp; missing ID generation</a:t>
            </a:r>
          </a:p>
          <a:p>
            <a:pPr>
              <a:spcBef>
                <a:spcPts val="400"/>
              </a:spcBef>
              <a:defRPr sz="1100">
                <a:solidFill>
                  <a:srgbClr val="374151"/>
                </a:solidFill>
              </a:defRPr>
            </a:pPr>
            <a:r>
              <a:t>• Instantly compiles nodes and edges into Neo4j &amp; SQLite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ce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182880"/>
            <a:ext cx="960120" cy="960120"/>
          </a:xfrm>
          <a:prstGeom prst="rect">
            <a:avLst/>
          </a:prstGeom>
        </p:spPr>
      </p:pic>
      <p:sp>
        <p:nvSpPr>
          <p:cNvPr id="3" name="Chevron 2"/>
          <p:cNvSpPr/>
          <p:nvPr/>
        </p:nvSpPr>
        <p:spPr>
          <a:xfrm>
            <a:off x="365760" y="1234440"/>
            <a:ext cx="868680" cy="502920"/>
          </a:xfrm>
          <a:prstGeom prst="chevron">
            <a:avLst/>
          </a:prstGeom>
          <a:solidFill>
            <a:srgbClr val="A61C1C"/>
          </a:solidFill>
          <a:ln>
            <a:solidFill>
              <a:srgbClr val="A6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1463040"/>
            <a:ext cx="11430000" cy="36576"/>
          </a:xfrm>
          <a:prstGeom prst="rect">
            <a:avLst/>
          </a:prstGeom>
          <a:solidFill>
            <a:srgbClr val="7E8A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25880" y="1005840"/>
            <a:ext cx="93268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11827"/>
                </a:solidFill>
                <a:latin typeface="Times New Roman"/>
              </a:defRPr>
            </a:pPr>
            <a:r>
              <a:t>Live Disruption Radar &amp; NLP Matching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B7280"/>
                </a:solidFill>
                <a:latin typeface="Arial"/>
              </a:defRPr>
            </a:pPr>
            <a: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5120640" cy="42976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011680"/>
            <a:ext cx="46634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A61C1C"/>
                </a:solidFill>
              </a:defRPr>
            </a:pPr>
            <a:r>
              <a:t>📡 Real-Time Incident Scanner</a:t>
            </a:r>
          </a:p>
          <a:p>
            <a:pPr>
              <a:spcBef>
                <a:spcPts val="1000"/>
              </a:spcBef>
            </a:pPr>
            <a:r>
              <a:rPr b="1" sz="1200">
                <a:solidFill>
                  <a:srgbClr val="111827"/>
                </a:solidFill>
              </a:rPr>
              <a:t>• Continuous Ingestion: </a:t>
            </a:r>
            <a:r>
              <a:rPr sz="1200">
                <a:solidFill>
                  <a:srgbClr val="374151"/>
                </a:solidFill>
              </a:rPr>
              <a:t>Background worker scans Google News RSS feeds every 5 minutes.</a:t>
            </a:r>
          </a:p>
          <a:p>
            <a:pPr>
              <a:spcBef>
                <a:spcPts val="1000"/>
              </a:spcBef>
            </a:pPr>
            <a:r>
              <a:rPr b="1" sz="1200">
                <a:solidFill>
                  <a:srgbClr val="111827"/>
                </a:solidFill>
              </a:rPr>
              <a:t>• Multi-Threat Coverage: </a:t>
            </a:r>
            <a:r>
              <a:rPr sz="1200">
                <a:solidFill>
                  <a:srgbClr val="374151"/>
                </a:solidFill>
              </a:rPr>
              <a:t>Detects port strikes, hurricanes, floods, container shortages &amp; factory fires.</a:t>
            </a:r>
          </a:p>
          <a:p>
            <a:pPr>
              <a:spcBef>
                <a:spcPts val="1000"/>
              </a:spcBef>
            </a:pPr>
            <a:r>
              <a:rPr b="1" sz="1200">
                <a:solidFill>
                  <a:srgbClr val="111827"/>
                </a:solidFill>
              </a:rPr>
              <a:t>• Interactive News Feed: </a:t>
            </a:r>
            <a:r>
              <a:rPr sz="1200">
                <a:solidFill>
                  <a:srgbClr val="374151"/>
                </a:solidFill>
              </a:rPr>
              <a:t>Filter incidents by Severity (Critical, High, Medium, Low) or Category.</a:t>
            </a:r>
          </a:p>
          <a:p>
            <a:pPr>
              <a:spcBef>
                <a:spcPts val="1000"/>
              </a:spcBef>
            </a:pPr>
            <a:r>
              <a:rPr b="1" sz="1200">
                <a:solidFill>
                  <a:srgbClr val="111827"/>
                </a:solidFill>
              </a:rPr>
              <a:t>• Custom Threat Testing: </a:t>
            </a:r>
            <a:r>
              <a:rPr sz="1200">
                <a:solidFill>
                  <a:srgbClr val="374151"/>
                </a:solidFill>
              </a:rPr>
              <a:t>Business owners can type or paste any breaking news rumor to test shock resilience.</a:t>
            </a:r>
          </a:p>
          <a:p>
            <a:pPr>
              <a:spcBef>
                <a:spcPts val="1000"/>
              </a:spcBef>
            </a:pPr>
            <a:r>
              <a:rPr b="1" sz="1200">
                <a:solidFill>
                  <a:srgbClr val="111827"/>
                </a:solidFill>
              </a:rPr>
              <a:t>• 1-Click Simulation: </a:t>
            </a:r>
            <a:r>
              <a:rPr sz="1200">
                <a:solidFill>
                  <a:srgbClr val="374151"/>
                </a:solidFill>
              </a:rPr>
              <a:t>Click 'Simulate' on any news article to immediately open the scenario in What-If studio.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828800"/>
            <a:ext cx="5120640" cy="4297680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2011680"/>
            <a:ext cx="46634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1E40AF"/>
                </a:solidFill>
              </a:defRPr>
            </a:pPr>
            <a:r>
              <a:t>🧠 3-Step NLP Entity Resolution</a:t>
            </a:r>
          </a:p>
          <a:p>
            <a:pPr>
              <a:spcBef>
                <a:spcPts val="1000"/>
              </a:spcBef>
            </a:pPr>
            <a:r>
              <a:rPr b="1" sz="1200">
                <a:solidFill>
                  <a:srgbClr val="111827"/>
                </a:solidFill>
              </a:rPr>
              <a:t>✔ Step 1: NER Extraction: </a:t>
            </a:r>
            <a:r>
              <a:rPr sz="1200">
                <a:solidFill>
                  <a:srgbClr val="374151"/>
                </a:solidFill>
              </a:rPr>
              <a:t>spaCy (en_core_web_sm) extracts Locations (GPE: 'Rotterdam', 'Kannauj') and Companies (ORG: 'Samsung').</a:t>
            </a:r>
          </a:p>
          <a:p>
            <a:pPr>
              <a:spcBef>
                <a:spcPts val="1000"/>
              </a:spcBef>
            </a:pPr>
            <a:r>
              <a:rPr b="1" sz="1200">
                <a:solidFill>
                  <a:srgbClr val="111827"/>
                </a:solidFill>
              </a:rPr>
              <a:t>✔ Step 2: Supplier Matching: </a:t>
            </a:r>
            <a:r>
              <a:rPr sz="1200">
                <a:solidFill>
                  <a:srgbClr val="374151"/>
                </a:solidFill>
              </a:rPr>
              <a:t>difflib.SequenceMatcher + token overlap matches extracted names to database Supplier IDs (S001, S005).</a:t>
            </a:r>
          </a:p>
          <a:p>
            <a:pPr>
              <a:spcBef>
                <a:spcPts val="1000"/>
              </a:spcBef>
            </a:pPr>
            <a:r>
              <a:rPr b="1" sz="1200">
                <a:solidFill>
                  <a:srgbClr val="111827"/>
                </a:solidFill>
              </a:rPr>
              <a:t>✔ Step 3: Anti-False-Positive Filter: </a:t>
            </a:r>
            <a:r>
              <a:rPr sz="1200">
                <a:solidFill>
                  <a:srgbClr val="374151"/>
                </a:solidFill>
              </a:rPr>
              <a:t>Generic tokens like 'Limited', 'India', 'Systems' are blocked — requires at least 2 distinct matching tokens.</a:t>
            </a:r>
          </a:p>
          <a:p>
            <a:pPr>
              <a:spcBef>
                <a:spcPts val="1000"/>
              </a:spcBef>
            </a:pPr>
            <a:r>
              <a:rPr b="1" sz="1200">
                <a:solidFill>
                  <a:srgbClr val="111827"/>
                </a:solidFill>
              </a:rPr>
              <a:t>✔ Step 4: WebSocket Push: </a:t>
            </a:r>
            <a:r>
              <a:rPr sz="1200">
                <a:solidFill>
                  <a:srgbClr val="374151"/>
                </a:solidFill>
              </a:rPr>
              <a:t>Broadcasts EVENT_CREATED and PREDICTION_UPDATED to all connected browsers in real-time.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ce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182880"/>
            <a:ext cx="960120" cy="960120"/>
          </a:xfrm>
          <a:prstGeom prst="rect">
            <a:avLst/>
          </a:prstGeom>
        </p:spPr>
      </p:pic>
      <p:sp>
        <p:nvSpPr>
          <p:cNvPr id="3" name="Chevron 2"/>
          <p:cNvSpPr/>
          <p:nvPr/>
        </p:nvSpPr>
        <p:spPr>
          <a:xfrm>
            <a:off x="365760" y="1234440"/>
            <a:ext cx="868680" cy="502920"/>
          </a:xfrm>
          <a:prstGeom prst="chevron">
            <a:avLst/>
          </a:prstGeom>
          <a:solidFill>
            <a:srgbClr val="A61C1C"/>
          </a:solidFill>
          <a:ln>
            <a:solidFill>
              <a:srgbClr val="A6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1463040"/>
            <a:ext cx="11430000" cy="36576"/>
          </a:xfrm>
          <a:prstGeom prst="rect">
            <a:avLst/>
          </a:prstGeom>
          <a:solidFill>
            <a:srgbClr val="7E8A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25880" y="1005840"/>
            <a:ext cx="93268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11827"/>
                </a:solidFill>
                <a:latin typeface="Times New Roman"/>
              </a:defRPr>
            </a:pPr>
            <a:r>
              <a:t>The Engine: Deterministic Math &amp; GNN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B7280"/>
                </a:solidFill>
                <a:latin typeface="Arial"/>
              </a:defRPr>
            </a:pPr>
            <a:r>
              <a:t>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5120640" cy="42976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011680"/>
            <a:ext cx="46634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A61C1C"/>
                </a:solidFill>
              </a:defRPr>
            </a:pPr>
            <a:r>
              <a:t>📐 1. Deterministic Formulas (No Guesswork)</a:t>
            </a:r>
          </a:p>
          <a:p>
            <a:pPr>
              <a:spcBef>
                <a:spcPts val="600"/>
              </a:spcBef>
            </a:pPr>
            <a:r>
              <a:rPr b="1" sz="1200">
                <a:solidFill>
                  <a:srgbClr val="111827"/>
                </a:solidFill>
              </a:rPr>
              <a:t>Gross Lost Supply </a:t>
            </a:r>
            <a:r>
              <a:rPr sz="1100">
                <a:solidFill>
                  <a:srgbClr val="1E40AF"/>
                </a:solidFill>
              </a:rPr>
              <a:t>= Supplier normal capacity_units</a:t>
            </a:r>
          </a:p>
          <a:p>
            <a:pPr>
              <a:spcBef>
                <a:spcPts val="600"/>
              </a:spcBef>
            </a:pPr>
            <a:r>
              <a:rPr b="1" sz="1200">
                <a:solidFill>
                  <a:srgbClr val="111827"/>
                </a:solidFill>
              </a:rPr>
              <a:t>Alternative Recovery </a:t>
            </a:r>
            <a:r>
              <a:rPr sz="1100">
                <a:solidFill>
                  <a:srgbClr val="1E40AF"/>
                </a:solidFill>
              </a:rPr>
              <a:t>= Backup suppliers' spare_capacity_units</a:t>
            </a:r>
          </a:p>
          <a:p>
            <a:pPr>
              <a:spcBef>
                <a:spcPts val="600"/>
              </a:spcBef>
            </a:pPr>
            <a:r>
              <a:rPr b="1" sz="1200">
                <a:solidFill>
                  <a:srgbClr val="111827"/>
                </a:solidFill>
              </a:rPr>
              <a:t>Gross Shortage </a:t>
            </a:r>
            <a:r>
              <a:rPr sz="1100">
                <a:solidFill>
                  <a:srgbClr val="1E40AF"/>
                </a:solidFill>
              </a:rPr>
              <a:t>= max(0, Lost Supply − Alternative Recovery)</a:t>
            </a:r>
          </a:p>
          <a:p>
            <a:pPr>
              <a:spcBef>
                <a:spcPts val="600"/>
              </a:spcBef>
            </a:pPr>
            <a:r>
              <a:rPr b="1" sz="1200">
                <a:solidFill>
                  <a:srgbClr val="111827"/>
                </a:solidFill>
              </a:rPr>
              <a:t>Daily Demand </a:t>
            </a:r>
            <a:r>
              <a:rPr sz="1100">
                <a:solidFill>
                  <a:srgbClr val="1E40AF"/>
                </a:solidFill>
              </a:rPr>
              <a:t>= ∑(Product Daily Demand × BOM Multiplier)</a:t>
            </a:r>
          </a:p>
          <a:p>
            <a:pPr>
              <a:spcBef>
                <a:spcPts val="600"/>
              </a:spcBef>
            </a:pPr>
            <a:r>
              <a:rPr b="1" sz="1200">
                <a:solidFill>
                  <a:srgbClr val="111827"/>
                </a:solidFill>
              </a:rPr>
              <a:t>Inventory Coverage </a:t>
            </a:r>
            <a:r>
              <a:rPr sz="1100">
                <a:solidFill>
                  <a:srgbClr val="1E40AF"/>
                </a:solidFill>
              </a:rPr>
              <a:t>= Current Stock ÷ Daily Demand (in Days)</a:t>
            </a:r>
          </a:p>
          <a:p>
            <a:pPr>
              <a:spcBef>
                <a:spcPts val="600"/>
              </a:spcBef>
            </a:pPr>
            <a:r>
              <a:rPr b="1" sz="1200">
                <a:solidFill>
                  <a:srgbClr val="111827"/>
                </a:solidFill>
              </a:rPr>
              <a:t>Net Shortage </a:t>
            </a:r>
            <a:r>
              <a:rPr sz="1100">
                <a:solidFill>
                  <a:srgbClr val="1E40AF"/>
                </a:solidFill>
              </a:rPr>
              <a:t>= max(0, Gross Shortage − Inventory Stock)</a:t>
            </a:r>
          </a:p>
          <a:p>
            <a:pPr>
              <a:spcBef>
                <a:spcPts val="600"/>
              </a:spcBef>
            </a:pPr>
            <a:r>
              <a:rPr b="1" sz="1200">
                <a:solidFill>
                  <a:srgbClr val="111827"/>
                </a:solidFill>
              </a:rPr>
              <a:t>Plant Stop Flag </a:t>
            </a:r>
            <a:r>
              <a:rPr sz="1100">
                <a:solidFill>
                  <a:srgbClr val="1E40AF"/>
                </a:solidFill>
              </a:rPr>
              <a:t>= True if Net Shortage &gt; 0 and Stockout hit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828800"/>
            <a:ext cx="5120640" cy="4297680"/>
          </a:xfrm>
          <a:prstGeom prst="roundRect">
            <a:avLst/>
          </a:prstGeom>
          <a:solidFill>
            <a:srgbClr val="F0FDF4"/>
          </a:solidFill>
          <a:ln w="1524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2011680"/>
            <a:ext cx="46634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166534"/>
                </a:solidFill>
              </a:defRPr>
            </a:pPr>
            <a:r>
              <a:t>🤖 2. Graph Neural Network (PyTorch Geometric)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111827"/>
                </a:solidFill>
              </a:rPr>
              <a:t>• Model Architecture: </a:t>
            </a:r>
            <a:r>
              <a:rPr sz="1100">
                <a:solidFill>
                  <a:srgbClr val="374151"/>
                </a:solidFill>
              </a:rPr>
              <a:t>Input(10) ➔ GCNConv(10,32) ➔ ReLU ➔ GCNConv(32,32) ➔ ReLU ➔ Linear(32,1) ➔ Sigmoid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111827"/>
                </a:solidFill>
              </a:rPr>
              <a:t>• 10 Node Features: </a:t>
            </a:r>
            <a:r>
              <a:rPr sz="1100">
                <a:solidFill>
                  <a:srgbClr val="374151"/>
                </a:solidFill>
              </a:rPr>
              <a:t>One-hot Node Type (Supplier, Product, Plant), Disruption Severity, Degree centrality &amp; Bias.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111827"/>
                </a:solidFill>
              </a:rPr>
              <a:t>• Graph Convolution: </a:t>
            </a:r>
            <a:r>
              <a:rPr sz="1100">
                <a:solidFill>
                  <a:srgbClr val="374151"/>
                </a:solidFill>
              </a:rPr>
              <a:t>Each node aggregates features from connected neighbors to learn cascading shock propagation.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111827"/>
                </a:solidFill>
              </a:rPr>
              <a:t>• Hybrid Fusion Formula: </a:t>
            </a:r>
            <a:r>
              <a:rPr sz="1100">
                <a:solidFill>
                  <a:srgbClr val="374151"/>
                </a:solidFill>
              </a:rPr>
              <a:t>Final Risk Score = (0.40 × Rule Math) + (0.60 × GNN Score)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111827"/>
                </a:solidFill>
              </a:rPr>
              <a:t>• Design Rule: </a:t>
            </a:r>
            <a:r>
              <a:rPr sz="1100">
                <a:solidFill>
                  <a:srgbClr val="374151"/>
                </a:solidFill>
              </a:rPr>
              <a:t>Business facts are authoritative; GNN acts as an advanced predictive risk signal.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ce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182880"/>
            <a:ext cx="960120" cy="960120"/>
          </a:xfrm>
          <a:prstGeom prst="rect">
            <a:avLst/>
          </a:prstGeom>
        </p:spPr>
      </p:pic>
      <p:sp>
        <p:nvSpPr>
          <p:cNvPr id="3" name="Chevron 2"/>
          <p:cNvSpPr/>
          <p:nvPr/>
        </p:nvSpPr>
        <p:spPr>
          <a:xfrm>
            <a:off x="365760" y="1234440"/>
            <a:ext cx="868680" cy="502920"/>
          </a:xfrm>
          <a:prstGeom prst="chevron">
            <a:avLst/>
          </a:prstGeom>
          <a:solidFill>
            <a:srgbClr val="A61C1C"/>
          </a:solidFill>
          <a:ln>
            <a:solidFill>
              <a:srgbClr val="A6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1463040"/>
            <a:ext cx="11430000" cy="36576"/>
          </a:xfrm>
          <a:prstGeom prst="rect">
            <a:avLst/>
          </a:prstGeom>
          <a:solidFill>
            <a:srgbClr val="7E8A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25880" y="1005840"/>
            <a:ext cx="93268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11827"/>
                </a:solidFill>
                <a:latin typeface="Times New Roman"/>
              </a:defRPr>
            </a:pPr>
            <a:r>
              <a:t>Multi-Tenant Architecture &amp; Data Security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B7280"/>
                </a:solidFill>
                <a:latin typeface="Arial"/>
              </a:defRPr>
            </a:pPr>
            <a:r>
              <a:t>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83080"/>
            <a:ext cx="10972800" cy="822960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74519"/>
            <a:ext cx="106070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500">
                <a:solidFill>
                  <a:srgbClr val="1E40AF"/>
                </a:solidFill>
              </a:defRPr>
            </a:pPr>
            <a:r>
              <a:t>🔒 Core Guarantee: 'Har Company Ka Alag Kamra' — 100% Data Isolation</a:t>
            </a:r>
          </a:p>
          <a:p>
            <a:pPr>
              <a:defRPr sz="1200">
                <a:solidFill>
                  <a:srgbClr val="374151"/>
                </a:solidFill>
              </a:defRPr>
            </a:pPr>
            <a:r>
              <a:t>AdilQadri Perfumes can NEVER inspect or access Mohilya Couture's confidential suppliers and BOM contracts.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834640"/>
            <a:ext cx="3474720" cy="32918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3017520"/>
            <a:ext cx="30175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A61C1C"/>
                </a:solidFill>
              </a:defRPr>
            </a:pPr>
            <a:r>
              <a:t>1. Database Isolation</a:t>
            </a:r>
          </a:p>
          <a:p>
            <a:pPr>
              <a:spcBef>
                <a:spcPts val="800"/>
              </a:spcBef>
              <a:defRPr sz="1200">
                <a:solidFill>
                  <a:srgbClr val="374151"/>
                </a:solidFill>
              </a:defRPr>
            </a:pPr>
            <a:r>
              <a:t>✔ Every database table stores user_id</a:t>
            </a:r>
          </a:p>
          <a:p>
            <a:pPr>
              <a:spcBef>
                <a:spcPts val="800"/>
              </a:spcBef>
              <a:defRPr sz="1200">
                <a:solidFill>
                  <a:srgbClr val="374151"/>
                </a:solidFill>
              </a:defRPr>
            </a:pPr>
            <a:r>
              <a:t>✔ All SQL queries enforce:</a:t>
            </a:r>
          </a:p>
          <a:p>
            <a:pPr>
              <a:spcBef>
                <a:spcPts val="800"/>
              </a:spcBef>
              <a:defRPr sz="1200">
                <a:solidFill>
                  <a:srgbClr val="374151"/>
                </a:solidFill>
              </a:defRPr>
            </a:pPr>
            <a:r>
              <a:t>✔ filter(model.user_id == self.user_id)</a:t>
            </a:r>
          </a:p>
          <a:p>
            <a:pPr>
              <a:spcBef>
                <a:spcPts val="800"/>
              </a:spcBef>
              <a:defRPr sz="1200">
                <a:solidFill>
                  <a:srgbClr val="374151"/>
                </a:solidFill>
              </a:defRPr>
            </a:pPr>
            <a:r>
              <a:t>✔ Neo4j nodes tagged with user_id</a:t>
            </a:r>
          </a:p>
          <a:p>
            <a:pPr>
              <a:spcBef>
                <a:spcPts val="800"/>
              </a:spcBef>
              <a:defRPr sz="1200">
                <a:solidFill>
                  <a:srgbClr val="374151"/>
                </a:solidFill>
              </a:defRPr>
            </a:pPr>
            <a:r>
              <a:t>✔ Zero cross-company contamination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59" y="2834640"/>
            <a:ext cx="3474720" cy="32918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9159" y="3017520"/>
            <a:ext cx="30175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A61C1C"/>
                </a:solidFill>
              </a:defRPr>
            </a:pPr>
            <a:r>
              <a:t>2. Authentication &amp; JWT</a:t>
            </a:r>
          </a:p>
          <a:p>
            <a:pPr>
              <a:spcBef>
                <a:spcPts val="800"/>
              </a:spcBef>
              <a:defRPr sz="1200">
                <a:solidFill>
                  <a:srgbClr val="374151"/>
                </a:solidFill>
              </a:defRPr>
            </a:pPr>
            <a:r>
              <a:t>✔ Passwords hashed with bcrypt</a:t>
            </a:r>
          </a:p>
          <a:p>
            <a:pPr>
              <a:spcBef>
                <a:spcPts val="800"/>
              </a:spcBef>
              <a:defRPr sz="1200">
                <a:solidFill>
                  <a:srgbClr val="374151"/>
                </a:solidFill>
              </a:defRPr>
            </a:pPr>
            <a:r>
              <a:t>✔ Unique random salt per user</a:t>
            </a:r>
          </a:p>
          <a:p>
            <a:pPr>
              <a:spcBef>
                <a:spcPts val="800"/>
              </a:spcBef>
              <a:defRPr sz="1200">
                <a:solidFill>
                  <a:srgbClr val="374151"/>
                </a:solidFill>
              </a:defRPr>
            </a:pPr>
            <a:r>
              <a:t>✔ HS256 JSON Web Tokens (JWT)</a:t>
            </a:r>
          </a:p>
          <a:p>
            <a:pPr>
              <a:spcBef>
                <a:spcPts val="800"/>
              </a:spcBef>
              <a:defRPr sz="1200">
                <a:solidFill>
                  <a:srgbClr val="374151"/>
                </a:solidFill>
              </a:defRPr>
            </a:pPr>
            <a:r>
              <a:t>✔ Token passed in Authorization Bearer</a:t>
            </a:r>
          </a:p>
          <a:p>
            <a:pPr>
              <a:spcBef>
                <a:spcPts val="800"/>
              </a:spcBef>
              <a:defRPr sz="1200">
                <a:solidFill>
                  <a:srgbClr val="374151"/>
                </a:solidFill>
              </a:defRPr>
            </a:pPr>
            <a:r>
              <a:t>✔ 24-hour expiration security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2834640"/>
            <a:ext cx="3474720" cy="32918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58200" y="3017520"/>
            <a:ext cx="30175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A61C1C"/>
                </a:solidFill>
              </a:defRPr>
            </a:pPr>
            <a:r>
              <a:t>3. Session Lifecycle</a:t>
            </a:r>
          </a:p>
          <a:p>
            <a:pPr>
              <a:spcBef>
                <a:spcPts val="800"/>
              </a:spcBef>
              <a:defRPr sz="1200">
                <a:solidFill>
                  <a:srgbClr val="374151"/>
                </a:solidFill>
              </a:defRPr>
            </a:pPr>
            <a:r>
              <a:t>✔ Dedicated Login &amp; Register form</a:t>
            </a:r>
          </a:p>
          <a:p>
            <a:pPr>
              <a:spcBef>
                <a:spcPts val="800"/>
              </a:spcBef>
              <a:defRPr sz="1200">
                <a:solidFill>
                  <a:srgbClr val="374151"/>
                </a:solidFill>
              </a:defRPr>
            </a:pPr>
            <a:r>
              <a:t>✔ AuthContext manages React state</a:t>
            </a:r>
          </a:p>
          <a:p>
            <a:pPr>
              <a:spcBef>
                <a:spcPts val="800"/>
              </a:spcBef>
              <a:defRPr sz="1200">
                <a:solidFill>
                  <a:srgbClr val="374151"/>
                </a:solidFill>
              </a:defRPr>
            </a:pPr>
            <a:r>
              <a:t>✔ Token preserved in LocalStorage</a:t>
            </a:r>
          </a:p>
          <a:p>
            <a:pPr>
              <a:spcBef>
                <a:spcPts val="800"/>
              </a:spcBef>
              <a:defRPr sz="1200">
                <a:solidFill>
                  <a:srgbClr val="374151"/>
                </a:solidFill>
              </a:defRPr>
            </a:pPr>
            <a:r>
              <a:t>✔ 1-Click Secure Logout</a:t>
            </a:r>
          </a:p>
          <a:p>
            <a:pPr>
              <a:spcBef>
                <a:spcPts val="800"/>
              </a:spcBef>
              <a:defRPr sz="1200">
                <a:solidFill>
                  <a:srgbClr val="374151"/>
                </a:solidFill>
              </a:defRPr>
            </a:pPr>
            <a:r>
              <a:t>✔ Auto-redirect on unauthorized calls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ce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182880"/>
            <a:ext cx="960120" cy="960120"/>
          </a:xfrm>
          <a:prstGeom prst="rect">
            <a:avLst/>
          </a:prstGeom>
        </p:spPr>
      </p:pic>
      <p:sp>
        <p:nvSpPr>
          <p:cNvPr id="3" name="Chevron 2"/>
          <p:cNvSpPr/>
          <p:nvPr/>
        </p:nvSpPr>
        <p:spPr>
          <a:xfrm>
            <a:off x="365760" y="1234440"/>
            <a:ext cx="868680" cy="502920"/>
          </a:xfrm>
          <a:prstGeom prst="chevron">
            <a:avLst/>
          </a:prstGeom>
          <a:solidFill>
            <a:srgbClr val="A61C1C"/>
          </a:solidFill>
          <a:ln>
            <a:solidFill>
              <a:srgbClr val="A6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1463040"/>
            <a:ext cx="11430000" cy="36576"/>
          </a:xfrm>
          <a:prstGeom prst="rect">
            <a:avLst/>
          </a:prstGeom>
          <a:solidFill>
            <a:srgbClr val="7E8A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25880" y="1005840"/>
            <a:ext cx="93268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11827"/>
                </a:solidFill>
                <a:latin typeface="Times New Roman"/>
              </a:defRPr>
            </a:pPr>
            <a:r>
              <a:t>Technologies, Tools &amp; Libraries Learned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B7280"/>
                </a:solidFill>
                <a:latin typeface="Arial"/>
              </a:defRPr>
            </a:pPr>
            <a: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2560320" cy="4297680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21945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1E40AF"/>
                </a:solidFill>
              </a:defRPr>
            </a:pPr>
            <a:r>
              <a:t>Languages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111827"/>
                </a:solidFill>
              </a:rPr>
              <a:t>Python 3.12
</a:t>
            </a:r>
            <a:r>
              <a:rPr sz="1100">
                <a:solidFill>
                  <a:srgbClr val="374151"/>
                </a:solidFill>
              </a:rPr>
              <a:t>Core backend, AI &amp; simulation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111827"/>
                </a:solidFill>
              </a:rPr>
              <a:t>TypeScript ~6.0
</a:t>
            </a:r>
            <a:r>
              <a:rPr sz="1100">
                <a:solidFill>
                  <a:srgbClr val="374151"/>
                </a:solidFill>
              </a:rPr>
              <a:t>Type-safe frontend code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111827"/>
                </a:solidFill>
              </a:rPr>
              <a:t>SQL
</a:t>
            </a:r>
            <a:r>
              <a:rPr sz="1100">
                <a:solidFill>
                  <a:srgbClr val="374151"/>
                </a:solidFill>
              </a:rPr>
              <a:t>Relational data management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111827"/>
                </a:solidFill>
              </a:rPr>
              <a:t>Cypher
</a:t>
            </a:r>
            <a:r>
              <a:rPr sz="1100">
                <a:solidFill>
                  <a:srgbClr val="374151"/>
                </a:solidFill>
              </a:rPr>
              <a:t>Neo4j graph query language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111827"/>
                </a:solidFill>
              </a:rPr>
              <a:t>HTML5 / CSS3
</a:t>
            </a:r>
            <a:r>
              <a:rPr sz="1100">
                <a:solidFill>
                  <a:srgbClr val="374151"/>
                </a:solidFill>
              </a:rPr>
              <a:t>Obsidian Glass styling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39" y="1828800"/>
            <a:ext cx="2560320" cy="4297680"/>
          </a:xfrm>
          <a:prstGeom prst="roundRect">
            <a:avLst/>
          </a:prstGeom>
          <a:solidFill>
            <a:srgbClr val="FEF2F2"/>
          </a:solidFill>
          <a:ln w="1524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03319" y="2011680"/>
            <a:ext cx="21945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A61C1C"/>
                </a:solidFill>
              </a:defRPr>
            </a:pPr>
            <a:r>
              <a:t>Backend &amp; APIs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111827"/>
                </a:solidFill>
              </a:rPr>
              <a:t>FastAPI 0.141
</a:t>
            </a:r>
            <a:r>
              <a:rPr sz="1100">
                <a:solidFill>
                  <a:srgbClr val="374151"/>
                </a:solidFill>
              </a:rPr>
              <a:t>Ultra-fast ASGI framework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111827"/>
                </a:solidFill>
              </a:rPr>
              <a:t>Uvicorn 0.52
</a:t>
            </a:r>
            <a:r>
              <a:rPr sz="1100">
                <a:solidFill>
                  <a:srgbClr val="374151"/>
                </a:solidFill>
              </a:rPr>
              <a:t>High-performance async server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111827"/>
                </a:solidFill>
              </a:rPr>
              <a:t>SQLAlchemy 2.0
</a:t>
            </a:r>
            <a:r>
              <a:rPr sz="1100">
                <a:solidFill>
                  <a:srgbClr val="374151"/>
                </a:solidFill>
              </a:rPr>
              <a:t>Database ORM &amp; sessions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111827"/>
                </a:solidFill>
              </a:rPr>
              <a:t>Pydantic v2
</a:t>
            </a:r>
            <a:r>
              <a:rPr sz="1100">
                <a:solidFill>
                  <a:srgbClr val="374151"/>
                </a:solidFill>
              </a:rPr>
              <a:t>Strict schema validation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111827"/>
                </a:solidFill>
              </a:rPr>
              <a:t>WebSockets
</a:t>
            </a:r>
            <a:r>
              <a:rPr sz="1100">
                <a:solidFill>
                  <a:srgbClr val="374151"/>
                </a:solidFill>
              </a:rPr>
              <a:t>Live 2-way real-time push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59" y="1828800"/>
            <a:ext cx="2560320" cy="4297680"/>
          </a:xfrm>
          <a:prstGeom prst="roundRect">
            <a:avLst/>
          </a:prstGeom>
          <a:solidFill>
            <a:srgbClr val="F0FDF4"/>
          </a:solidFill>
          <a:ln w="1524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39" y="2011680"/>
            <a:ext cx="21945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166534"/>
                </a:solidFill>
              </a:defRPr>
            </a:pPr>
            <a:r>
              <a:t>AI, NLP &amp; Graph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111827"/>
                </a:solidFill>
              </a:rPr>
              <a:t>Neo4j 5.x
</a:t>
            </a:r>
            <a:r>
              <a:rPr sz="1100">
                <a:solidFill>
                  <a:srgbClr val="374151"/>
                </a:solidFill>
              </a:rPr>
              <a:t>Property graph DBMS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111827"/>
                </a:solidFill>
              </a:rPr>
              <a:t>PyTorch 2.13
</a:t>
            </a:r>
            <a:r>
              <a:rPr sz="1100">
                <a:solidFill>
                  <a:srgbClr val="374151"/>
                </a:solidFill>
              </a:rPr>
              <a:t>Neural network execution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111827"/>
                </a:solidFill>
              </a:rPr>
              <a:t>PyTorch Geometric
</a:t>
            </a:r>
            <a:r>
              <a:rPr sz="1100">
                <a:solidFill>
                  <a:srgbClr val="374151"/>
                </a:solidFill>
              </a:rPr>
              <a:t>GCNConv graph convolution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111827"/>
                </a:solidFill>
              </a:rPr>
              <a:t>spaCy 3.8
</a:t>
            </a:r>
            <a:r>
              <a:rPr sz="1100">
                <a:solidFill>
                  <a:srgbClr val="374151"/>
                </a:solidFill>
              </a:rPr>
              <a:t>English NER model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111827"/>
                </a:solidFill>
              </a:rPr>
              <a:t>OpenPyXL / Pandas
</a:t>
            </a:r>
            <a:r>
              <a:rPr sz="1100">
                <a:solidFill>
                  <a:srgbClr val="374151"/>
                </a:solidFill>
              </a:rPr>
              <a:t>Excel data processing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98280" y="1828800"/>
            <a:ext cx="2560320" cy="4297680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81160" y="2011680"/>
            <a:ext cx="21945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92400E"/>
                </a:solidFill>
              </a:defRPr>
            </a:pPr>
            <a:r>
              <a:t>Frontend &amp; DevOps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111827"/>
                </a:solidFill>
              </a:rPr>
              <a:t>React 18 / 19
</a:t>
            </a:r>
            <a:r>
              <a:rPr sz="1100">
                <a:solidFill>
                  <a:srgbClr val="374151"/>
                </a:solidFill>
              </a:rPr>
              <a:t>Modular component UI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111827"/>
                </a:solidFill>
              </a:rPr>
              <a:t>Vite 8
</a:t>
            </a:r>
            <a:r>
              <a:rPr sz="1100">
                <a:solidFill>
                  <a:srgbClr val="374151"/>
                </a:solidFill>
              </a:rPr>
              <a:t>Next-gen frontend bundler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111827"/>
                </a:solidFill>
              </a:rPr>
              <a:t>ReactFlow 12
</a:t>
            </a:r>
            <a:r>
              <a:rPr sz="1100">
                <a:solidFill>
                  <a:srgbClr val="374151"/>
                </a:solidFill>
              </a:rPr>
              <a:t>@xyflow/react canvas graph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111827"/>
                </a:solidFill>
              </a:rPr>
              <a:t>Lucide React
</a:t>
            </a:r>
            <a:r>
              <a:rPr sz="1100">
                <a:solidFill>
                  <a:srgbClr val="374151"/>
                </a:solidFill>
              </a:rPr>
              <a:t>Semantic UI vector icons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111827"/>
                </a:solidFill>
              </a:rPr>
              <a:t>pytest (70 tests)
</a:t>
            </a:r>
            <a:r>
              <a:rPr sz="1100">
                <a:solidFill>
                  <a:srgbClr val="374151"/>
                </a:solidFill>
              </a:rPr>
              <a:t>Automated testing suite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ce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182880"/>
            <a:ext cx="960120" cy="960120"/>
          </a:xfrm>
          <a:prstGeom prst="rect">
            <a:avLst/>
          </a:prstGeom>
        </p:spPr>
      </p:pic>
      <p:sp>
        <p:nvSpPr>
          <p:cNvPr id="3" name="Chevron 2"/>
          <p:cNvSpPr/>
          <p:nvPr/>
        </p:nvSpPr>
        <p:spPr>
          <a:xfrm>
            <a:off x="365760" y="1234440"/>
            <a:ext cx="868680" cy="502920"/>
          </a:xfrm>
          <a:prstGeom prst="chevron">
            <a:avLst/>
          </a:prstGeom>
          <a:solidFill>
            <a:srgbClr val="A61C1C"/>
          </a:solidFill>
          <a:ln>
            <a:solidFill>
              <a:srgbClr val="A6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1463040"/>
            <a:ext cx="11430000" cy="36576"/>
          </a:xfrm>
          <a:prstGeom prst="rect">
            <a:avLst/>
          </a:prstGeom>
          <a:solidFill>
            <a:srgbClr val="7E8A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25880" y="1005840"/>
            <a:ext cx="93268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11827"/>
                </a:solidFill>
                <a:latin typeface="Times New Roman"/>
              </a:defRPr>
            </a:pPr>
            <a:r>
              <a:t>Project Timeline &amp; Milestones Achieved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B7280"/>
                </a:solidFill>
                <a:latin typeface="Arial"/>
              </a:defRPr>
            </a:pPr>
            <a: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10972800" cy="9601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938528"/>
            <a:ext cx="10515600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A61C1C"/>
                </a:solidFill>
              </a:defRPr>
            </a:pPr>
            <a:r>
              <a:t>Phase 1: Foundation (Weeks 1-4)</a:t>
            </a:r>
          </a:p>
          <a:p>
            <a:pPr>
              <a:spcBef>
                <a:spcPts val="300"/>
              </a:spcBef>
              <a:defRPr sz="1100">
                <a:solidFill>
                  <a:srgbClr val="374151"/>
                </a:solidFill>
              </a:defRPr>
            </a:pPr>
            <a:r>
              <a:t>Literature review on supply chain networks • Defined multi-tier entity schema (Suppliers, BOM, Routes) • Configured Python venv, FastAPI core &amp; Git repo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926080"/>
            <a:ext cx="10972800" cy="9601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3035808"/>
            <a:ext cx="10515600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A61C1C"/>
                </a:solidFill>
              </a:defRPr>
            </a:pPr>
            <a:r>
              <a:t>Phase 2: Data Pipeline (Weeks 5-8)</a:t>
            </a:r>
          </a:p>
          <a:p>
            <a:pPr>
              <a:spcBef>
                <a:spcPts val="300"/>
              </a:spcBef>
              <a:defRPr sz="1100">
                <a:solidFill>
                  <a:srgbClr val="374151"/>
                </a:solidFill>
              </a:defRPr>
            </a:pPr>
            <a:r>
              <a:t>Implemented SQLite relational models via SQLAlchemy • Built Neo4j graph schema, constraints &amp; Cypher queries • Engineered Excel importer with intelligent synonym resolution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023360"/>
            <a:ext cx="10972800" cy="9601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133088"/>
            <a:ext cx="10515600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A61C1C"/>
                </a:solidFill>
              </a:defRPr>
            </a:pPr>
            <a:r>
              <a:t>Phase 3: AI &amp; Simulation (Weeks 9-12)</a:t>
            </a:r>
          </a:p>
          <a:p>
            <a:pPr>
              <a:spcBef>
                <a:spcPts val="300"/>
              </a:spcBef>
              <a:defRPr sz="1100">
                <a:solidFill>
                  <a:srgbClr val="374151"/>
                </a:solidFill>
              </a:defRPr>
            </a:pPr>
            <a:r>
              <a:t>Created spaCy NER pipeline for news location parsing • Trained PyTorch Geometric GCN model (atmograph_gnn.pt) • Developed deterministic Disruption Simulator math engine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120639"/>
            <a:ext cx="10972800" cy="9601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5230367"/>
            <a:ext cx="10515600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A61C1C"/>
                </a:solidFill>
              </a:defRPr>
            </a:pPr>
            <a:r>
              <a:t>Phase 4: UI, Security &amp; Viva (Weeks 13-15)</a:t>
            </a:r>
          </a:p>
          <a:p>
            <a:pPr>
              <a:spcBef>
                <a:spcPts val="300"/>
              </a:spcBef>
              <a:defRPr sz="1100">
                <a:solidFill>
                  <a:srgbClr val="374151"/>
                </a:solidFill>
              </a:defRPr>
            </a:pPr>
            <a:r>
              <a:t>Built React 18 / Vite Workflow Studio (ReactFlow canvas) • Implemented bcrypt auth, JWT tokens &amp; user isolation • Executed 70/70 PyTest suite, benchmarking &amp; presentation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ce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182880"/>
            <a:ext cx="960120" cy="960120"/>
          </a:xfrm>
          <a:prstGeom prst="rect">
            <a:avLst/>
          </a:prstGeom>
        </p:spPr>
      </p:pic>
      <p:sp>
        <p:nvSpPr>
          <p:cNvPr id="3" name="Chevron 2"/>
          <p:cNvSpPr/>
          <p:nvPr/>
        </p:nvSpPr>
        <p:spPr>
          <a:xfrm>
            <a:off x="365760" y="1234440"/>
            <a:ext cx="868680" cy="502920"/>
          </a:xfrm>
          <a:prstGeom prst="chevron">
            <a:avLst/>
          </a:prstGeom>
          <a:solidFill>
            <a:srgbClr val="A61C1C"/>
          </a:solidFill>
          <a:ln>
            <a:solidFill>
              <a:srgbClr val="A6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1463040"/>
            <a:ext cx="11430000" cy="36576"/>
          </a:xfrm>
          <a:prstGeom prst="rect">
            <a:avLst/>
          </a:prstGeom>
          <a:solidFill>
            <a:srgbClr val="7E8A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25880" y="1005840"/>
            <a:ext cx="93268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11827"/>
                </a:solidFill>
                <a:latin typeface="Times New Roman"/>
              </a:defRPr>
            </a:pPr>
            <a:r>
              <a:t>Conclusion &amp; Future Scope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B7280"/>
                </a:solidFill>
                <a:latin typeface="Arial"/>
              </a:defRPr>
            </a:pPr>
            <a: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5120640" cy="42976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011680"/>
            <a:ext cx="46634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A61C1C"/>
                </a:solidFill>
              </a:defRPr>
            </a:pPr>
            <a:r>
              <a:t>🎯 Conclusion &amp; Key Achievements</a:t>
            </a:r>
          </a:p>
          <a:p>
            <a:pPr>
              <a:spcBef>
                <a:spcPts val="1000"/>
              </a:spcBef>
            </a:pPr>
            <a:r>
              <a:rPr b="1" sz="1200">
                <a:solidFill>
                  <a:srgbClr val="111827"/>
                </a:solidFill>
              </a:rPr>
              <a:t>✔ Bridged Spreadsheet Gap: </a:t>
            </a:r>
            <a:r>
              <a:rPr sz="1200">
                <a:solidFill>
                  <a:srgbClr val="374151"/>
                </a:solidFill>
              </a:rPr>
              <a:t>Transformed static, isolated Excel workbooks into an interconnected knowledge graph.</a:t>
            </a:r>
          </a:p>
          <a:p>
            <a:pPr>
              <a:spcBef>
                <a:spcPts val="1000"/>
              </a:spcBef>
            </a:pPr>
            <a:r>
              <a:rPr b="1" sz="1200">
                <a:solidFill>
                  <a:srgbClr val="111827"/>
                </a:solidFill>
              </a:rPr>
              <a:t>✔ Proactive Decision Making: </a:t>
            </a:r>
            <a:r>
              <a:rPr sz="1200">
                <a:solidFill>
                  <a:srgbClr val="374151"/>
                </a:solidFill>
              </a:rPr>
              <a:t>Replaced slow, reactive crisis response with early warning disruption simulation.</a:t>
            </a:r>
          </a:p>
          <a:p>
            <a:pPr>
              <a:spcBef>
                <a:spcPts val="1000"/>
              </a:spcBef>
            </a:pPr>
            <a:r>
              <a:rPr b="1" sz="1200">
                <a:solidFill>
                  <a:srgbClr val="111827"/>
                </a:solidFill>
              </a:rPr>
              <a:t>✔ Ultra-Fast Performance: </a:t>
            </a:r>
            <a:r>
              <a:rPr sz="1200">
                <a:solidFill>
                  <a:srgbClr val="374151"/>
                </a:solidFill>
              </a:rPr>
              <a:t>Processes raw Excel in &lt; 2.5s and computes multi-tier ripple cascades in &lt; 350ms.</a:t>
            </a:r>
          </a:p>
          <a:p>
            <a:pPr>
              <a:spcBef>
                <a:spcPts val="1000"/>
              </a:spcBef>
            </a:pPr>
            <a:r>
              <a:rPr b="1" sz="1200">
                <a:solidFill>
                  <a:srgbClr val="111827"/>
                </a:solidFill>
              </a:rPr>
              <a:t>✔ Accessible to MSMEs: </a:t>
            </a:r>
            <a:r>
              <a:rPr sz="1200">
                <a:solidFill>
                  <a:srgbClr val="374151"/>
                </a:solidFill>
              </a:rPr>
              <a:t>Brings multi-million-dollar supply chain intelligence to everyday Indian manufacturing hubs.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828800"/>
            <a:ext cx="5120640" cy="4297680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2011680"/>
            <a:ext cx="46634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1E40AF"/>
                </a:solidFill>
              </a:defRPr>
            </a:pPr>
            <a:r>
              <a:t>🚀 Future Scope &amp; References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111827"/>
                </a:solidFill>
              </a:rPr>
              <a:t>• IoT Live GPS Tracking: </a:t>
            </a:r>
            <a:r>
              <a:rPr sz="1100">
                <a:solidFill>
                  <a:srgbClr val="374151"/>
                </a:solidFill>
              </a:rPr>
              <a:t>Integrate live transponder feeds on maritime cargo ships and national highway freight.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111827"/>
                </a:solidFill>
              </a:rPr>
              <a:t>• Autonomous AI Agents: </a:t>
            </a:r>
            <a:r>
              <a:rPr sz="1100">
                <a:solidFill>
                  <a:srgbClr val="374151"/>
                </a:solidFill>
              </a:rPr>
              <a:t>LLM-driven negotiation agents to automatically contact and contract backup suppliers.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111827"/>
                </a:solidFill>
              </a:rPr>
              <a:t>• Satellite Weather Feeds: </a:t>
            </a:r>
            <a:r>
              <a:rPr sz="1100">
                <a:solidFill>
                  <a:srgbClr val="374151"/>
                </a:solidFill>
              </a:rPr>
              <a:t>Real-time satellite precipitation imagery for automated flood severity scoring.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111827"/>
                </a:solidFill>
              </a:rPr>
              <a:t>• Academic References: </a:t>
            </a:r>
            <a:r>
              <a:rPr sz="1100">
                <a:solidFill>
                  <a:srgbClr val="374151"/>
                </a:solidFill>
              </a:rPr>
              <a:t>1. IEEE Transactions: 'Graph Neural Networks in Supply Chain Resilience' (2023).
2. Harvard Business Review: 'Managing Multi-Tier Sourcing Networks'.
3. Neo4j Graph Data Science &amp; PyTorch Geometric Documentation.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