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012220" cy="1097280"/>
          </a:xfrm>
          <a:prstGeom prst="rect">
            <a:avLst/>
          </a:prstGeom>
        </p:spPr>
      </p:pic>
      <p:pic>
        <p:nvPicPr>
          <p:cNvPr id="3" name="Picture 2" descr="sc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657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Times New Roman"/>
              </a:defRPr>
            </a:pPr>
            <a:r>
              <a:t>Sarvajanik College of Engineering and Technology</a:t>
            </a:r>
          </a:p>
          <a:p>
            <a:pPr algn="ctr">
              <a:defRPr sz="1600">
                <a:solidFill>
                  <a:srgbClr val="374151"/>
                </a:solidFill>
                <a:latin typeface="Arial"/>
              </a:defRPr>
            </a:pPr>
            <a:r>
              <a:t>Department of Computer Engineering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Project-1 (Academic Year 2026-2027)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0020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61C1C"/>
                </a:solidFill>
                <a:latin typeface="Times New Roman"/>
              </a:defRPr>
            </a:pPr>
            <a:r>
              <a:t>AtmoGraph</a:t>
            </a:r>
          </a:p>
          <a:p>
            <a:pPr algn="ctr">
              <a:defRPr sz="2000" b="1">
                <a:solidFill>
                  <a:srgbClr val="111827"/>
                </a:solidFill>
                <a:latin typeface="Times New Roman"/>
              </a:defRPr>
            </a:pPr>
            <a:r>
              <a:t>AI-Driven Supply Chain Disruption Predictor &amp; Multi-Tenant Graph Intelligence Platform</a:t>
            </a:r>
          </a:p>
          <a:p>
            <a:pPr algn="ctr">
              <a:defRPr sz="1400">
                <a:solidFill>
                  <a:srgbClr val="6B7280"/>
                </a:solidFill>
                <a:latin typeface="Arial"/>
              </a:defRPr>
            </a:pPr>
            <a:r>
              <a:t>Dynamic Network Topology, NLP Incident Radar &amp; Multi-Tier Ripple Effect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1. Zeel Makwana (Enrollment No: [230120107000])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2. Team Member 2 (Enrollment No: [230120107000])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</a:defRPr>
            </a:pPr>
            <a:r>
              <a:t>Supervised By: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[Supervisor's Name]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Assistant Professor, Department of Computer Engineering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Sarvajanik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Introduction &amp;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What is AtmoGraph?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Core Concept: </a:t>
            </a:r>
            <a:r>
              <a:rPr b="0" sz="1200">
                <a:solidFill>
                  <a:srgbClr val="374151"/>
                </a:solidFill>
              </a:rPr>
              <a:t>AtmoGraph is an intelligent SaaS platform that transforms flat, unstructured supply chain sheets into live interactive knowledge graphs.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Multi-Tier Mapping: </a:t>
            </a:r>
            <a:r>
              <a:rPr b="0" sz="1200">
                <a:solidFill>
                  <a:srgbClr val="374151"/>
                </a:solidFill>
              </a:rPr>
              <a:t>Maps relationships between Suppliers, Raw Materials, Manufacturing Plants, Warehouses, and Finished SKUs across multiple tiers.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Proactive Protection: </a:t>
            </a:r>
            <a:r>
              <a:rPr b="0" sz="1200">
                <a:solidFill>
                  <a:srgbClr val="374151"/>
                </a:solidFill>
              </a:rPr>
              <a:t>Acts as an early-warning radar shield, alerting business owners before transit bottlenecks or factory shutdowns trigger delivery failures.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Target Users: </a:t>
            </a:r>
            <a:r>
              <a:rPr b="0" sz="1200">
                <a:solidFill>
                  <a:srgbClr val="374151"/>
                </a:solidFill>
              </a:rPr>
              <a:t>Tailored for manufacturing clusters, MSMEs, e-commerce brands, and global supply networks (e.g. Attar/Perfumes, Garments, Electronics).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Key Project Objectives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Automated Graph Ingestion: </a:t>
            </a:r>
            <a:r>
              <a:rPr b="0" sz="1200">
                <a:solidFill>
                  <a:srgbClr val="374151"/>
                </a:solidFill>
              </a:rPr>
              <a:t>Upload standard Excel/JSON datasets and instantly generate a linked network in SQLite and Neo4j.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NLP Disruption Radar: </a:t>
            </a:r>
            <a:r>
              <a:rPr b="0" sz="1200">
                <a:solidFill>
                  <a:srgbClr val="374151"/>
                </a:solidFill>
              </a:rPr>
              <a:t>Scan breaking news bulletins, weather notices, and transport strikes; automatically extract affected entities.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Ripple-Effect Engine: </a:t>
            </a:r>
            <a:r>
              <a:rPr b="0" sz="1200">
                <a:solidFill>
                  <a:srgbClr val="374151"/>
                </a:solidFill>
              </a:rPr>
              <a:t>Compute downstream cascade shocks (plant downtime, stockout probability, and financial delays) using deterministic heuristics &amp; GNNs.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True Multi-Tenancy: </a:t>
            </a:r>
            <a:r>
              <a:rPr b="0" sz="1200">
                <a:solidFill>
                  <a:srgbClr val="374151"/>
                </a:solidFill>
              </a:rPr>
              <a:t>Provide bulletproof business workspace isolation ensuring Business A never sees or accesses Business B's private supply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Problem Definition &amp; Industry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Current Supply Chain Fragility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Tier-2 &amp; Tier-3 Blindspots: </a:t>
            </a:r>
            <a:r>
              <a:rPr b="0" sz="1200">
                <a:solidFill>
                  <a:srgbClr val="374151"/>
                </a:solidFill>
              </a:rPr>
              <a:t>73% of enterprises only track direct Tier-1 suppliers. When a sub-tier component fails (e.g. glass kilns or chemical solvents), companies are caught off guard.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Static Spreadsheet Silos: </a:t>
            </a:r>
            <a:r>
              <a:rPr b="0" sz="1200">
                <a:solidFill>
                  <a:srgbClr val="374151"/>
                </a:solidFill>
              </a:rPr>
              <a:t>Organizations manage critical supplier dependencies in static Excel workbooks that cannot model interconnections, spare capacity, or route dependencies.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Reactive Crisis Management: </a:t>
            </a:r>
            <a:r>
              <a:rPr b="0" sz="1200">
                <a:solidFill>
                  <a:srgbClr val="374151"/>
                </a:solidFill>
              </a:rPr>
              <a:t>Businesses only learn of disruptions after trucks are stuck or factories halt, resulting in massive penalty costs, lost sales, and brand damage.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Key Challenges Solved by AtmoGraph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The 'Butterfly Effect': </a:t>
            </a:r>
            <a:r>
              <a:rPr b="0" sz="1200">
                <a:solidFill>
                  <a:srgbClr val="374151"/>
                </a:solidFill>
              </a:rPr>
              <a:t>A small strike or flood 1,000 km away cascades into multi-plant stoppages. AtmoGraph calculates the exact path of propagation.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News Noise vs. Actionable Intel: </a:t>
            </a:r>
            <a:r>
              <a:rPr b="0" sz="1200">
                <a:solidFill>
                  <a:srgbClr val="374151"/>
                </a:solidFill>
              </a:rPr>
              <a:t>Thousands of news headlines occur daily. AtmoGraph filters noise and only triggers alerts matching a company's specific supply nodes.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Confidentiality in Cloud SaaS: </a:t>
            </a:r>
            <a:r>
              <a:rPr b="0" sz="1200">
                <a:solidFill>
                  <a:srgbClr val="374151"/>
                </a:solidFill>
              </a:rPr>
              <a:t>Businesses refuse to share sensitive supplier contracts. A secure, strictly isolated multi-tenant architecture is non-negotiable.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Motivation &amp; Key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Limitations of Existing Systems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Legacy ERP Systems (SAP, Oracle): </a:t>
            </a:r>
            <a:r>
              <a:rPr b="0" sz="1200">
                <a:solidFill>
                  <a:srgbClr val="374151"/>
                </a:solidFill>
              </a:rPr>
              <a:t>Rigid, millions of dollars in setup costs, months of implementation, and zero visual graph intelligence for instant what-if analysis.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Manual Contingency Planning: </a:t>
            </a:r>
            <a:r>
              <a:rPr b="0" sz="1200">
                <a:solidFill>
                  <a:srgbClr val="374151"/>
                </a:solidFill>
              </a:rPr>
              <a:t>Procurement teams manually call suppliers during crises instead of having real-time spare capacity calculations.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Lack of Indian Corridor Modeling: </a:t>
            </a:r>
            <a:r>
              <a:rPr b="0" sz="1200">
                <a:solidFill>
                  <a:srgbClr val="374151"/>
                </a:solidFill>
              </a:rPr>
              <a:t>Foreign tools fail to understand regional Indian industrial hubs (Surat textile markets, Kannauj attar distillers, Firozabad glass belts).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AtmoGraph Innovations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Zero-Configuration Graph Builder: </a:t>
            </a:r>
            <a:r>
              <a:rPr b="0" sz="1200">
                <a:solidFill>
                  <a:srgbClr val="374151"/>
                </a:solidFill>
              </a:rPr>
              <a:t>Businesses upload their existing bills of materials (BOM) and supplier tables; graphs populate in seconds.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Dual Hybrid Simulation Engine: </a:t>
            </a:r>
            <a:r>
              <a:rPr b="0" sz="1200">
                <a:solidFill>
                  <a:srgbClr val="374151"/>
                </a:solidFill>
              </a:rPr>
              <a:t>Combines strict deterministic inventory/lead-time mathematics with Graph Neural Network (GNN) probabilistic predictions.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Built-in Contingency Recommendation: </a:t>
            </a:r>
            <a:r>
              <a:rPr b="0" sz="1200">
                <a:solidFill>
                  <a:srgbClr val="374151"/>
                </a:solidFill>
              </a:rPr>
              <a:t>Identifies which alternative suppliers hold spare capacity and recommends instant order rerouting.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System Architecture &amp; 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1. Presentation Layer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React 18 + Vite: </a:t>
            </a:r>
            <a:r>
              <a:rPr b="0" sz="1200">
                <a:solidFill>
                  <a:srgbClr val="374151"/>
                </a:solidFill>
              </a:rPr>
              <a:t>High-performance SPA with sub-second module switching.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Cytoscape &amp; Canvas: </a:t>
            </a:r>
            <a:r>
              <a:rPr b="0" sz="1200">
                <a:solidFill>
                  <a:srgbClr val="374151"/>
                </a:solidFill>
              </a:rPr>
              <a:t>Hardware-accelerated visual graph rendering.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Workflow Studio: </a:t>
            </a:r>
            <a:r>
              <a:rPr b="0" sz="1200">
                <a:solidFill>
                  <a:srgbClr val="374151"/>
                </a:solidFill>
              </a:rPr>
              <a:t>Predictor, Interactive Graph, Simulator, Importer, Radar, &amp; History.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Auth Gating: </a:t>
            </a:r>
            <a:r>
              <a:rPr b="0" sz="1200">
                <a:solidFill>
                  <a:srgbClr val="374151"/>
                </a:solidFill>
              </a:rPr>
              <a:t>JWT Bearer headers injected on every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2. Intelligence Engine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FastAPI Microservices: </a:t>
            </a:r>
            <a:r>
              <a:rPr b="0" sz="1200">
                <a:solidFill>
                  <a:srgbClr val="374151"/>
                </a:solidFill>
              </a:rPr>
              <a:t>High-throughput asynchronous Python REST endpoints.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Disruption Engine: </a:t>
            </a:r>
            <a:r>
              <a:rPr b="0" sz="1200">
                <a:solidFill>
                  <a:srgbClr val="374151"/>
                </a:solidFill>
              </a:rPr>
              <a:t>Mathematical buffer stock and lead-time propagation.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NLP Entity Matcher: </a:t>
            </a:r>
            <a:r>
              <a:rPr b="0" sz="1200">
                <a:solidFill>
                  <a:srgbClr val="374151"/>
                </a:solidFill>
              </a:rPr>
              <a:t>spaCy-powered extraction of locations, severities, and suppliers.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PyTorch GNN: </a:t>
            </a:r>
            <a:r>
              <a:rPr b="0" sz="1200">
                <a:solidFill>
                  <a:srgbClr val="374151"/>
                </a:solidFill>
              </a:rPr>
              <a:t>Graph Convolutional Network link and impact scoring.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3. Storage &amp; Multi-Tenancy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SQLite Relational Core: </a:t>
            </a:r>
            <a:r>
              <a:rPr b="0" sz="1200">
                <a:solidFill>
                  <a:srgbClr val="374151"/>
                </a:solidFill>
              </a:rPr>
              <a:t>Normalized schemas for Users, BOM, Demands, and Inventories.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Neo4j Graph Database: </a:t>
            </a:r>
            <a:r>
              <a:rPr b="0" sz="1200">
                <a:solidFill>
                  <a:srgbClr val="374151"/>
                </a:solidFill>
              </a:rPr>
              <a:t>High-speed multi-hop graph traversal for ripple pathfinding.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User Isolation: </a:t>
            </a:r>
            <a:r>
              <a:rPr b="0" sz="1200">
                <a:solidFill>
                  <a:srgbClr val="374151"/>
                </a:solidFill>
              </a:rPr>
              <a:t>Tenant data strictly partitioned by user_id and company_id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Core Workflow Studio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1. Ripple Predictor Studio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Executive Overview: </a:t>
            </a:r>
            <a:r>
              <a:rPr b="0" sz="1200">
                <a:solidFill>
                  <a:srgbClr val="374151"/>
                </a:solidFill>
              </a:rPr>
              <a:t>Instant business health score, active disruption alerts, and supplier vulnerability meters at a single glance.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2. Interactive Supply Graph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Visual Topology: </a:t>
            </a:r>
            <a:r>
              <a:rPr b="0" sz="1200">
                <a:solidFill>
                  <a:srgbClr val="374151"/>
                </a:solidFill>
              </a:rPr>
              <a:t>Multi-tier interactive spider-web network connecting Suppliers ➔ Materials ➔ Plants ➔ Products with dynamic node inspections.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3. What-If Disruption Simulator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Stress-Testing Sandbox: </a:t>
            </a:r>
            <a:r>
              <a:rPr b="0" sz="1200">
                <a:solidFill>
                  <a:srgbClr val="374151"/>
                </a:solidFill>
              </a:rPr>
              <a:t>Select any supplier node, simulate sudden failure, and evaluate daily plant production halts, inventory buffer drain, and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79392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4. Excel / JSON Data Ingestion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1-Click Importer: </a:t>
            </a:r>
            <a:r>
              <a:rPr b="0" sz="1200">
                <a:solidFill>
                  <a:srgbClr val="374151"/>
                </a:solidFill>
              </a:rPr>
              <a:t>Drag-and-drop standard business workbooks with automated schema verification, warning logs, and instant graph compilation.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Real-Time Disruption Radar &amp; NLP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Real-Time Incident Scanning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Live Monitoring Feed: </a:t>
            </a:r>
            <a:r>
              <a:rPr b="0" sz="1200">
                <a:solidFill>
                  <a:srgbClr val="374151"/>
                </a:solidFill>
              </a:rPr>
              <a:t>Scans trade news bulletins, meteorological weather advisories, transport strikes, and port congestion notices.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Dynamic Business Presets: </a:t>
            </a:r>
            <a:r>
              <a:rPr b="0" sz="1200">
                <a:solidFill>
                  <a:srgbClr val="374151"/>
                </a:solidFill>
              </a:rPr>
              <a:t>Instead of hardcoding generic news, AtmoGraph dynamically synthesizes realistic regional scenarios matching active supplier locations.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Custom Threat Testing: </a:t>
            </a:r>
            <a:r>
              <a:rPr b="0" sz="1200">
                <a:solidFill>
                  <a:srgbClr val="374151"/>
                </a:solidFill>
              </a:rPr>
              <a:t>Business owners can paste any breaking notice or rumor to test supply shock resistance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NLP Entity Resolution Flow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1. Text Extraction: </a:t>
            </a:r>
            <a:r>
              <a:rPr b="0" sz="1200">
                <a:solidFill>
                  <a:srgbClr val="374151"/>
                </a:solidFill>
              </a:rPr>
              <a:t>NLP engine parses headline and body to identify locations (e.g. 'Kannauj', 'Nhava Sheva') and incident types ('Flood', 'Strike').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2. Fuzzy Entity Resolution: </a:t>
            </a:r>
            <a:r>
              <a:rPr b="0" sz="1200">
                <a:solidFill>
                  <a:srgbClr val="374151"/>
                </a:solidFill>
              </a:rPr>
              <a:t>Uses SequenceMatcher &amp; Jaccard token metrics to map geographical text directly to internal Supplier IDs (S001, S005).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3. Instant Shock Simulation: </a:t>
            </a:r>
            <a:r>
              <a:rPr b="0" sz="1200">
                <a:solidFill>
                  <a:srgbClr val="374151"/>
                </a:solidFill>
              </a:rPr>
              <a:t>Triggers mathematical shock waves through the supply chain graph, outputting affected components, days of delay, and SKUs at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Multi-Tenant Architecture &amp; 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Strict Privacy Principles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No Shared Switching: </a:t>
            </a:r>
            <a:r>
              <a:rPr b="0" sz="1200">
                <a:solidFill>
                  <a:srgbClr val="374151"/>
                </a:solidFill>
              </a:rPr>
              <a:t>Business A (AdilQadri Perfumes) must NEVER access or inspect Business B's (Mohilya Textiles) confidential supplier network.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Isolated Graph &amp; Storage: </a:t>
            </a:r>
            <a:r>
              <a:rPr b="0" sz="1200">
                <a:solidFill>
                  <a:srgbClr val="374151"/>
                </a:solidFill>
              </a:rPr>
              <a:t>All queries across catalog, nodes, simulator, live radar, and historical replays are filtered strictly by authenticated user_id.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Cryptographic Passwords: </a:t>
            </a:r>
            <a:r>
              <a:rPr b="0" sz="1200">
                <a:solidFill>
                  <a:srgbClr val="374151"/>
                </a:solidFill>
              </a:rPr>
              <a:t>Passwords protected via bcrypt hashing with unique random salts (never stored in plain text).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Authentication &amp; Session Lifecycle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JWT Session Tokens: </a:t>
            </a:r>
            <a:r>
              <a:rPr b="0" sz="1200">
                <a:solidFill>
                  <a:srgbClr val="374151"/>
                </a:solidFill>
              </a:rPr>
              <a:t>Secure JSON Web Tokens (HS256) passed via standard Authorization Bearer headers on every REST request.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Dedicated Auth Page: </a:t>
            </a:r>
            <a:r>
              <a:rPr b="0" sz="1200">
                <a:solidFill>
                  <a:srgbClr val="374151"/>
                </a:solidFill>
              </a:rPr>
              <a:t>Custom login and registration portals; automatic redirection and session recovery via LocalStorage.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Safe Logout: </a:t>
            </a:r>
            <a:r>
              <a:rPr b="0" sz="1200">
                <a:solidFill>
                  <a:srgbClr val="374151"/>
                </a:solidFill>
              </a:rPr>
              <a:t>1-click session purge instantly wipes tokens and redirects unauthorized requests back to the security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Technologies, Tools &amp; Libraries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Frontend Stack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React 18 &amp; TypeScript: </a:t>
            </a:r>
            <a:r>
              <a:rPr b="0" sz="1200">
                <a:solidFill>
                  <a:srgbClr val="374151"/>
                </a:solidFill>
              </a:rPr>
              <a:t>Component architecture, strict type safety, custom hooks.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Vite 8: </a:t>
            </a:r>
            <a:r>
              <a:rPr b="0" sz="1200">
                <a:solidFill>
                  <a:srgbClr val="374151"/>
                </a:solidFill>
              </a:rPr>
              <a:t>Lightning-fast client bundling and HMR development.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Lucide React: </a:t>
            </a:r>
            <a:r>
              <a:rPr b="0" sz="1200">
                <a:solidFill>
                  <a:srgbClr val="374151"/>
                </a:solidFill>
              </a:rPr>
              <a:t>Scalable vector icons for clean dashboard semantics.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Cytoscape &amp; Canvas: </a:t>
            </a:r>
            <a:r>
              <a:rPr b="0" sz="1200">
                <a:solidFill>
                  <a:srgbClr val="374151"/>
                </a:solidFill>
              </a:rPr>
              <a:t>Graph layout engines (cose, breadthfirst, concentric).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Backend Stack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Python 3.12 &amp; FastAPI: </a:t>
            </a:r>
            <a:r>
              <a:rPr b="0" sz="1200">
                <a:solidFill>
                  <a:srgbClr val="374151"/>
                </a:solidFill>
              </a:rPr>
              <a:t>Modern asynchronous ASGI framework with Pydantic validation.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SQLAlchemy ORM: </a:t>
            </a:r>
            <a:r>
              <a:rPr b="0" sz="1200">
                <a:solidFill>
                  <a:srgbClr val="374151"/>
                </a:solidFill>
              </a:rPr>
              <a:t>Declarative relational models and automated migrations.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Bcrypt &amp; Python-Jose: </a:t>
            </a:r>
            <a:r>
              <a:rPr b="0" sz="1200">
                <a:solidFill>
                  <a:srgbClr val="374151"/>
                </a:solidFill>
              </a:rPr>
              <a:t>Industry-standard cryptographic authentication.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OpenPyXL &amp; Pandas: </a:t>
            </a:r>
            <a:r>
              <a:rPr b="0" sz="1200">
                <a:solidFill>
                  <a:srgbClr val="374151"/>
                </a:solidFill>
              </a:rPr>
              <a:t>Complex multi-sheet Excel parsing and data cleaning.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93392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Data &amp; AI Stack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Neo4j Graph DBMS: </a:t>
            </a:r>
            <a:r>
              <a:rPr b="0" sz="1200">
                <a:solidFill>
                  <a:srgbClr val="374151"/>
                </a:solidFill>
              </a:rPr>
              <a:t>Property graph data modeling and Cypher query execution.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PyTorch Geometric: </a:t>
            </a:r>
            <a:r>
              <a:rPr b="0" sz="1200">
                <a:solidFill>
                  <a:srgbClr val="374151"/>
                </a:solidFill>
              </a:rPr>
              <a:t>Graph Neural Networks (GCN) for link and disruption prediction.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spaCy NLP: </a:t>
            </a:r>
            <a:r>
              <a:rPr b="0" sz="1200">
                <a:solidFill>
                  <a:srgbClr val="374151"/>
                </a:solidFill>
              </a:rPr>
              <a:t>Named Entity Recognition (NER) for location and threat classification.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SQLite: </a:t>
            </a:r>
            <a:r>
              <a:rPr b="0" sz="1200">
                <a:solidFill>
                  <a:srgbClr val="374151"/>
                </a:solidFill>
              </a:rPr>
              <a:t>Zero-configuration ACID-compliant embedded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Experimental Results &amp; Working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Live Case Study 1: AdilQadri Perfumes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Input Structure: </a:t>
            </a:r>
            <a:r>
              <a:rPr b="0" sz="1200">
                <a:solidFill>
                  <a:srgbClr val="374151"/>
                </a:solidFill>
              </a:rPr>
              <a:t>8 Indian Suppliers (Kannauj attar bases, Firozabad glass bottles, Mumbai carrier solvents, Ahmedabad printing).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Simulated Shock: </a:t>
            </a:r>
            <a:r>
              <a:rPr b="0" sz="1200">
                <a:solidFill>
                  <a:srgbClr val="374151"/>
                </a:solidFill>
              </a:rPr>
              <a:t>'Kannauj Ganga Basin Flooding halting artisanal deg-bhapka distillation units.'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Result &amp; Action: </a:t>
            </a:r>
            <a:r>
              <a:rPr b="0" sz="1200">
                <a:solidFill>
                  <a:srgbClr val="374151"/>
                </a:solidFill>
              </a:rPr>
              <a:t>Engine correctly identified S001 disruption, forecasted +7 days assembly delay, and recommended rerouting to Mysore Sandalwood Oil (S003) with 35% spare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Live Case Study 2: Mohilya Couture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Input Structure: </a:t>
            </a:r>
            <a:r>
              <a:rPr b="0" sz="1200">
                <a:solidFill>
                  <a:srgbClr val="374151"/>
                </a:solidFill>
              </a:rPr>
              <a:t>10 Textile Suppliers across Surat Ring Road, Pandesara Dyeing, Sachin GIDC, and Bhagal Zari artisans.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Simulated Shock: </a:t>
            </a:r>
            <a:r>
              <a:rPr b="0" sz="1200">
                <a:solidFill>
                  <a:srgbClr val="374151"/>
                </a:solidFill>
              </a:rPr>
              <a:t>'Pandesara GIDC Transformer Failure &amp; Ring Road Inundation.'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Result &amp; Action: </a:t>
            </a:r>
            <a:r>
              <a:rPr b="0" sz="1200">
                <a:solidFill>
                  <a:srgbClr val="374151"/>
                </a:solidFill>
              </a:rPr>
              <a:t>Highlighted multi-plant dyeing halt, warned of inventory exhaustion within 4 days, and alerted management before garment stitching halted.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Project Timeline &amp; Milestones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Phase 1 to Phase 3 (Foundation)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Weeks 1-3: Research &amp; Domain Modeling: </a:t>
            </a:r>
            <a:r>
              <a:rPr b="0" sz="1200">
                <a:solidFill>
                  <a:srgbClr val="374151"/>
                </a:solidFill>
              </a:rPr>
              <a:t>Literature review on supply chain graph networks, failure cascades, and dataset schema design.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Weeks 4-6: Storage &amp; Graph Pipeline: </a:t>
            </a:r>
            <a:r>
              <a:rPr b="0" sz="1200">
                <a:solidFill>
                  <a:srgbClr val="374151"/>
                </a:solidFill>
              </a:rPr>
              <a:t>Configured SQLite schemas and Neo4j Cypher knowledge graphs; built Excel importer.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Weeks 7-9: Simulation &amp; NLP Engine: </a:t>
            </a:r>
            <a:r>
              <a:rPr b="0" sz="1200">
                <a:solidFill>
                  <a:srgbClr val="374151"/>
                </a:solidFill>
              </a:rPr>
              <a:t>Designed mathematical lead-time buffer algorithms and spaCy entity extraction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Phase 4 to Phase 5 (UI &amp; Security)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Weeks 10-12: Workflow Studio UI: </a:t>
            </a:r>
            <a:r>
              <a:rPr b="0" sz="1200">
                <a:solidFill>
                  <a:srgbClr val="374151"/>
                </a:solidFill>
              </a:rPr>
              <a:t>Developed React 18 frontend modules: Ripple Predictor, Interactive Graph, Simulator, and Radar.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Weeks 13-14: Multi-Tenant Authentication: </a:t>
            </a:r>
            <a:r>
              <a:rPr b="0" sz="1200">
                <a:solidFill>
                  <a:srgbClr val="374151"/>
                </a:solidFill>
              </a:rPr>
              <a:t>Implemented bcrypt hashing, JWT session tokens, and strict user-scoped data partitioning.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Week 15: Testing, Hardening &amp; Docs: </a:t>
            </a:r>
            <a:r>
              <a:rPr b="0" sz="1200">
                <a:solidFill>
                  <a:srgbClr val="374151"/>
                </a:solidFill>
              </a:rPr>
              <a:t>Zero-error build verification, presentation synthesis, and performance benchmarking.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Conclusion &amp; Achievements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Proactive Decision Making: </a:t>
            </a:r>
            <a:r>
              <a:rPr b="0" sz="1200">
                <a:solidFill>
                  <a:srgbClr val="374151"/>
                </a:solidFill>
              </a:rPr>
              <a:t>AtmoGraph successfully bridges the gap between static spreadsheets and real-time graph intelligence.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Lightning Performance: </a:t>
            </a:r>
            <a:r>
              <a:rPr b="0" sz="1200">
                <a:solidFill>
                  <a:srgbClr val="374151"/>
                </a:solidFill>
              </a:rPr>
              <a:t>Excel ingestion in &lt; 2.5s, ripple simulation in &lt; 350ms, and frontend bundle rendering in &lt; 120ms.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Democratizing Enterprise Tech: </a:t>
            </a:r>
            <a:r>
              <a:rPr b="0" sz="1200">
                <a:solidFill>
                  <a:srgbClr val="374151"/>
                </a:solidFill>
              </a:rPr>
              <a:t>Brings multi-million-dollar supply chain intelligence to everyday manufacturers and MSMEs.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61C1C"/>
                </a:solidFill>
                <a:latin typeface="Arial"/>
              </a:defRPr>
            </a:pPr>
            <a:r>
              <a:t>Future Scope &amp; References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Future Roadmap: </a:t>
            </a:r>
            <a:r>
              <a:rPr b="0" sz="1200">
                <a:solidFill>
                  <a:srgbClr val="374151"/>
                </a:solidFill>
              </a:rPr>
              <a:t>1. Live IoT GPS tracking integration for in-transit maritime/highway freight.
2. Autonomous LLM negotiation agents for alternate supplier contracting.
3. Multi-modal satellite weather imagery processing.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11827"/>
                </a:solidFill>
              </a:rPr>
              <a:t>• Key References: </a:t>
            </a:r>
            <a:r>
              <a:rPr b="0" sz="1200">
                <a:solidFill>
                  <a:srgbClr val="374151"/>
                </a:solidFill>
              </a:rPr>
              <a:t>1. 'Graph Neural Networks in Supply Chain Risk', IEEE Transactions (2023).
2. 'Resilience in Multi-Tier Sourcing Networks', Harvard Business Review.
3. Neo4j Graph Data Science Documentation &amp; PyTorch Geometric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