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012220" cy="1097280"/>
          </a:xfrm>
          <a:prstGeom prst="rect">
            <a:avLst/>
          </a:prstGeom>
        </p:spPr>
      </p:pic>
      <p:pic>
        <p:nvPicPr>
          <p:cNvPr id="3" name="Picture 2" descr="sc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65760"/>
            <a:ext cx="85340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Times New Roman"/>
              </a:defRPr>
            </a:pPr>
            <a:r>
              <a:t>Sarvajanik College of Engineering and Technology</a:t>
            </a:r>
          </a:p>
          <a:p>
            <a:pPr algn="ctr">
              <a:defRPr sz="1600">
                <a:solidFill>
                  <a:srgbClr val="374151"/>
                </a:solidFill>
                <a:latin typeface="Arial"/>
              </a:defRPr>
            </a:pPr>
            <a:r>
              <a:t>Department of Information Technology</a:t>
            </a:r>
          </a:p>
          <a:p>
            <a:pPr algn="ctr">
              <a:defRPr sz="1300">
                <a:solidFill>
                  <a:srgbClr val="6B7280"/>
                </a:solidFill>
                <a:latin typeface="Arial"/>
              </a:defRPr>
            </a:pPr>
            <a:r>
              <a:t>Project-1 (Academic Year 2026-2027)</a:t>
            </a:r>
          </a:p>
        </p:txBody>
      </p:sp>
      <p:sp>
        <p:nvSpPr>
          <p:cNvPr id="5" name="Chevron 4"/>
          <p:cNvSpPr/>
          <p:nvPr/>
        </p:nvSpPr>
        <p:spPr>
          <a:xfrm>
            <a:off x="365760" y="160020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A61C1C"/>
                </a:solidFill>
                <a:latin typeface="Times New Roman"/>
              </a:defRPr>
            </a:pPr>
            <a:r>
              <a:rPr dirty="0" err="1"/>
              <a:t>AtmoGraph</a:t>
            </a:r>
            <a:endParaRPr dirty="0"/>
          </a:p>
          <a:p>
            <a:pPr algn="ctr">
              <a:defRPr sz="2100" b="1">
                <a:solidFill>
                  <a:srgbClr val="111827"/>
                </a:solidFill>
                <a:latin typeface="Times New Roman"/>
              </a:defRPr>
            </a:pPr>
            <a:r>
              <a:rPr dirty="0"/>
              <a:t>AI-Powered Supply Chain Disruption &amp; Ripple-Effect Prediction Platform</a:t>
            </a:r>
          </a:p>
          <a:p>
            <a:pPr algn="ctr">
              <a:defRPr sz="1400">
                <a:solidFill>
                  <a:srgbClr val="6B7280"/>
                </a:solidFill>
                <a:latin typeface="Arial"/>
              </a:defRPr>
            </a:pPr>
            <a:r>
              <a:rPr dirty="0"/>
              <a:t>Excel Knowledge Graph • Real-Time News NLP • What-If Shock Simulation • Multi-Tenancy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12064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  <a:latin typeface="Arial"/>
              </a:defRPr>
            </a:pPr>
            <a:r>
              <a:t>Presented By:</a:t>
            </a:r>
          </a:p>
          <a:p>
            <a:pPr>
              <a:spcBef>
                <a:spcPts val="3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1. Zeel Makwana (Enrollment No: [ET24BTIT815])</a:t>
            </a:r>
          </a:p>
          <a:p>
            <a:pPr>
              <a:spcBef>
                <a:spcPts val="3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2. Meet Solanki (Enrollment No: [ET24BTIT817])</a:t>
            </a:r>
          </a:p>
          <a:p>
            <a:pPr>
              <a:spcBef>
                <a:spcPts val="3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3. Smit Sapariya (Enrollment No: [ET23BTIT121])</a:t>
            </a:r>
          </a:p>
          <a:p>
            <a:pPr>
              <a:spcBef>
                <a:spcPts val="3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4. Upen Sapariya (Enrollment No: [ET23BTIT122])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846320"/>
            <a:ext cx="418646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</a:defRPr>
            </a:pPr>
            <a:r>
              <a:t>Supervised By:</a:t>
            </a:r>
          </a:p>
          <a:p>
            <a:pPr>
              <a:spcBef>
                <a:spcPts val="3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Dr. Ashishkumar Chaudhari</a:t>
            </a:r>
          </a:p>
          <a:p>
            <a:pPr>
              <a:spcBef>
                <a:spcPts val="3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Assistant Professor, Department of Information Technology</a:t>
            </a:r>
          </a:p>
          <a:p>
            <a:pPr>
              <a:spcBef>
                <a:spcPts val="3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Sarvajanik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AtmoGraph Overview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0360152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972007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• Intelligent Supply Chain Mapping: </a:t>
            </a:r>
            <a:r>
              <a:rPr sz="1400" b="0">
                <a:solidFill>
                  <a:srgbClr val="374151"/>
                </a:solidFill>
                <a:latin typeface="Arial"/>
              </a:rPr>
              <a:t>Transforms static, flat spreadsheets into an interconnected knowledge graph linking suppliers, plants, and finished goods.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Multi-Tier Event Tracking: </a:t>
            </a:r>
            <a:r>
              <a:rPr sz="1400" b="0">
                <a:solidFill>
                  <a:srgbClr val="374151"/>
                </a:solidFill>
                <a:latin typeface="Arial"/>
              </a:rPr>
              <a:t>Ingests live trade news and weather advisories to trace how external shocks propagate across multiple supply tiers.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Predictive Risk Analytics: </a:t>
            </a:r>
            <a:r>
              <a:rPr sz="1400" b="0">
                <a:solidFill>
                  <a:srgbClr val="374151"/>
                </a:solidFill>
                <a:latin typeface="Arial"/>
              </a:rPr>
              <a:t>Calculates cascading disruption impact, operational delay days, and stockout probabilities before production stalls.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Interactive Workflow Studio: </a:t>
            </a:r>
            <a:r>
              <a:rPr sz="1400" b="0">
                <a:solidFill>
                  <a:srgbClr val="374151"/>
                </a:solidFill>
                <a:latin typeface="Arial"/>
              </a:rPr>
              <a:t>Enables business owners to explore network topologies, simulate what-if outages, and replay historical incidents.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Problem Definition &amp; Project Goal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0360152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972007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• Fragmented Information Sources: </a:t>
            </a:r>
            <a:r>
              <a:rPr sz="1400" b="0">
                <a:solidFill>
                  <a:srgbClr val="374151"/>
                </a:solidFill>
                <a:latin typeface="Arial"/>
              </a:rPr>
              <a:t>Disruption bulletins, meteorological warnings, and port strikes occur across disconnected feeds without central aggregation.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Multi-Tier Visibility Blindspots: </a:t>
            </a:r>
            <a:r>
              <a:rPr sz="1400" b="0">
                <a:solidFill>
                  <a:srgbClr val="374151"/>
                </a:solidFill>
                <a:latin typeface="Arial"/>
              </a:rPr>
              <a:t>Enterprises struggle to manually trace how a Tier-2/3 raw material outage impacts their final product assembly line.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Automated Decision Support: </a:t>
            </a:r>
            <a:r>
              <a:rPr sz="1400" b="0">
                <a:solidFill>
                  <a:srgbClr val="374151"/>
                </a:solidFill>
                <a:latin typeface="Arial"/>
              </a:rPr>
              <a:t>AtmoGraph instantly resolves news entities, mapping geographical text directly to active supplier IDs and product lines.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Human-in-the-Loop Architecture: </a:t>
            </a:r>
            <a:r>
              <a:rPr sz="1400" b="0">
                <a:solidFill>
                  <a:srgbClr val="374151"/>
                </a:solidFill>
                <a:latin typeface="Arial"/>
              </a:rPr>
              <a:t>The platform delivers automated predictive analytics and alternative recommendations while keeping final crisis decisions in human hands.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945447"/>
            <a:ext cx="93268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System Architecture: End-to-End Pipeline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207832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2192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</a:defRPr>
            </a:pPr>
            <a:r>
              <a:rPr dirty="0"/>
              <a:t>Data Ingestion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rPr dirty="0"/>
              <a:t>User uploads Excel / JSON workbooks with Suppliers, Materials, BOM &amp; Routes.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25496" y="3442272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180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54680" y="2207832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802192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</a:defRPr>
            </a:pPr>
            <a:r>
              <a:rPr dirty="0"/>
              <a:t>Graph Building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rPr dirty="0"/>
              <a:t>SQLite stores normalized tables; Neo4j links nodes &amp; relationships.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65776" y="3442272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1208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94960" y="2207832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802192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</a:defRPr>
            </a:pPr>
            <a:r>
              <a:rPr dirty="0"/>
              <a:t>Live News Scan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spaCy NLP extracts locations, disruption types &amp; severities.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06056" y="3442272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5236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635240" y="2207832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802192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</a:defRPr>
            </a:pPr>
            <a:r>
              <a:rPr dirty="0"/>
              <a:t>Hybrid Simulation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rPr dirty="0"/>
              <a:t>Disruption Engine computes shortage math; </a:t>
            </a:r>
            <a:r>
              <a:rPr dirty="0" err="1"/>
              <a:t>PyG</a:t>
            </a:r>
            <a:r>
              <a:rPr dirty="0"/>
              <a:t> GNN scores node risks.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546336" y="3442272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9264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875520" y="2207832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802192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</a:defRPr>
            </a:pPr>
            <a:r>
              <a:rPr dirty="0"/>
              <a:t>Live Visual UI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rPr dirty="0" err="1"/>
              <a:t>ReactFlow</a:t>
            </a:r>
            <a:r>
              <a:rPr dirty="0"/>
              <a:t> renders spider-web graph; WebSocket pushes real-time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News-to-Event Graph Pipeline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0360152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972007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• 1. NLP &amp; Entity Extraction: </a:t>
            </a:r>
            <a:r>
              <a:rPr sz="1400" b="0">
                <a:solidFill>
                  <a:srgbClr val="374151"/>
                </a:solidFill>
                <a:latin typeface="Arial"/>
              </a:rPr>
              <a:t>Regex patterns and spaCy (en_core_web_sm) scan news headlines and text to extract event types, severity levels, and geographical locations.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2. Database Ingestion &amp; Entity Matching: </a:t>
            </a:r>
            <a:r>
              <a:rPr sz="1400" b="0">
                <a:solidFill>
                  <a:srgbClr val="374151"/>
                </a:solidFill>
                <a:latin typeface="Arial"/>
              </a:rPr>
              <a:t>A structured Event record is committed to SQLite, and supplier names are matched against existing master catalogs using token similarity.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3. Knowledge Graph Synchronization: </a:t>
            </a:r>
            <a:r>
              <a:rPr sz="1400" b="0">
                <a:solidFill>
                  <a:srgbClr val="374151"/>
                </a:solidFill>
                <a:latin typeface="Arial"/>
              </a:rPr>
              <a:t>Event → Supplier → Product relationships are synchronized into Neo4j with multi-hop property links for downstream traversal.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4. Resilient Fallback Handling: </a:t>
            </a:r>
            <a:r>
              <a:rPr sz="1400" b="0">
                <a:solidFill>
                  <a:srgbClr val="374151"/>
                </a:solidFill>
                <a:latin typeface="Arial"/>
              </a:rPr>
              <a:t>Unmatched entities are preserved as standalone graph nodes, ensuring complete visibility even when master records are incomplete.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Data &amp; Knowledge Graph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0360152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972007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• SQLite Relational Database: </a:t>
            </a:r>
            <a:r>
              <a:rPr sz="1400" b="0">
                <a:solidFill>
                  <a:srgbClr val="374151"/>
                </a:solidFill>
                <a:latin typeface="Arial"/>
              </a:rPr>
              <a:t>Stores core persistent entities including Events, Suppliers, Products, and Supply Chain Links (backend/atmograph.db).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Business Master Tables: </a:t>
            </a:r>
            <a:r>
              <a:rPr sz="1400" b="0">
                <a:solidFill>
                  <a:srgbClr val="374151"/>
                </a:solidFill>
                <a:latin typeface="Arial"/>
              </a:rPr>
              <a:t>Maintains operational attributes for Manufacturing Plants, Components (BOM), Inventories, Production Capacity, Demand, and Routes.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Neo4j Graph Database: </a:t>
            </a:r>
            <a:r>
              <a:rPr sz="1400" b="0">
                <a:solidFill>
                  <a:srgbClr val="374151"/>
                </a:solidFill>
                <a:latin typeface="Arial"/>
              </a:rPr>
              <a:t>Stores flexible property graph nodes and directed relationships: (Event)-[:AFFECTS]-&gt;(Supplier)-[:SUPPLIES]-&gt;(Product).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Multi-Hop Graph Projections: </a:t>
            </a:r>
            <a:r>
              <a:rPr sz="1400" b="0">
                <a:solidFill>
                  <a:srgbClr val="374151"/>
                </a:solidFill>
                <a:latin typeface="Arial"/>
              </a:rPr>
              <a:t>Subgraphs extracted at depths 1 to 5 are projected directly into feature tensors for the Graph Neural Network (GNN).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Risk Prediction &amp; GNN Architecture</a:t>
            </a:r>
            <a:endParaRPr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623986" y="6400800"/>
            <a:ext cx="26321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7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0360152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972007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• Deterministic Rule Engine: </a:t>
            </a:r>
            <a:r>
              <a:rPr sz="1400" b="0">
                <a:solidFill>
                  <a:srgbClr val="374151"/>
                </a:solidFill>
                <a:latin typeface="Arial"/>
              </a:rPr>
              <a:t>Calculates baseline risk (0-100) using incident severity weights, supplier concentration factors, and resolution status multipliers.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Graph Neural Network (PyG): </a:t>
            </a:r>
            <a:r>
              <a:rPr sz="1400" b="0">
                <a:solidFill>
                  <a:srgbClr val="374151"/>
                </a:solidFill>
                <a:latin typeface="Arial"/>
              </a:rPr>
              <a:t>Constructs 10 node features (node type, severity, centrality, bias) processed through 2 GCNConv layers (32 hidden units) with ReLU and Sigmoid.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Hybrid Risk Fusion Formula: </a:t>
            </a:r>
            <a:r>
              <a:rPr sz="1400" b="0">
                <a:solidFill>
                  <a:srgbClr val="374151"/>
                </a:solidFill>
                <a:latin typeface="Arial"/>
              </a:rPr>
              <a:t>Combines deterministic formulas with machine learning predictions: Final Risk = (0.40 × Rule Score) + (0.60 × GNN Score).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Heuristic Ground Truth: </a:t>
            </a:r>
            <a:r>
              <a:rPr sz="1400" b="0">
                <a:solidFill>
                  <a:srgbClr val="374151"/>
                </a:solidFill>
                <a:latin typeface="Arial"/>
              </a:rPr>
              <a:t>Training targets derive from deterministic lead-time delays and buffer depletion metrics, teaching the model cascading ripple propagation.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Technologies, Tools &amp; Libraries Used</a:t>
            </a:r>
            <a:endParaRPr sz="350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4297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Languages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Python 3.12
</a:t>
            </a:r>
            <a:r>
              <a:rPr sz="1100">
                <a:solidFill>
                  <a:srgbClr val="374151"/>
                </a:solidFill>
              </a:rPr>
              <a:t>Core backend, AI &amp; simulation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TypeScript ~6.0
</a:t>
            </a:r>
            <a:r>
              <a:rPr sz="1100">
                <a:solidFill>
                  <a:srgbClr val="374151"/>
                </a:solidFill>
              </a:rPr>
              <a:t>Type-safe frontend code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SQL
</a:t>
            </a:r>
            <a:r>
              <a:rPr sz="1100">
                <a:solidFill>
                  <a:srgbClr val="374151"/>
                </a:solidFill>
              </a:rPr>
              <a:t>Relational data management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Cypher
</a:t>
            </a:r>
            <a:r>
              <a:rPr sz="1100">
                <a:solidFill>
                  <a:srgbClr val="374151"/>
                </a:solidFill>
              </a:rPr>
              <a:t>Neo4j graph query language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HTML5 / CSS3
</a:t>
            </a:r>
            <a:r>
              <a:rPr sz="1100">
                <a:solidFill>
                  <a:srgbClr val="374151"/>
                </a:solidFill>
              </a:rPr>
              <a:t>Obsidian Glass styling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28800"/>
            <a:ext cx="2560320" cy="42976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19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1C1C"/>
                </a:solidFill>
              </a:defRPr>
            </a:pPr>
            <a:r>
              <a:rPr dirty="0"/>
              <a:t>Backend &amp; APIs</a:t>
            </a:r>
          </a:p>
          <a:p>
            <a:pPr>
              <a:spcBef>
                <a:spcPts val="800"/>
              </a:spcBef>
            </a:pPr>
            <a:r>
              <a:rPr sz="1200" b="1" dirty="0" err="1">
                <a:solidFill>
                  <a:srgbClr val="111827"/>
                </a:solidFill>
              </a:rPr>
              <a:t>FastAPI</a:t>
            </a:r>
            <a:r>
              <a:rPr sz="1200" b="1" dirty="0">
                <a:solidFill>
                  <a:srgbClr val="111827"/>
                </a:solidFill>
              </a:rPr>
              <a:t> 0.141
</a:t>
            </a:r>
            <a:r>
              <a:rPr sz="1100" dirty="0">
                <a:solidFill>
                  <a:srgbClr val="374151"/>
                </a:solidFill>
              </a:rPr>
              <a:t>Ultra-fast ASGI framework</a:t>
            </a:r>
          </a:p>
          <a:p>
            <a:pPr>
              <a:spcBef>
                <a:spcPts val="800"/>
              </a:spcBef>
            </a:pPr>
            <a:r>
              <a:rPr sz="1200" b="1" dirty="0" err="1">
                <a:solidFill>
                  <a:srgbClr val="111827"/>
                </a:solidFill>
              </a:rPr>
              <a:t>Uvicorn</a:t>
            </a:r>
            <a:r>
              <a:rPr sz="1200" b="1" dirty="0">
                <a:solidFill>
                  <a:srgbClr val="111827"/>
                </a:solidFill>
              </a:rPr>
              <a:t> 0.52
</a:t>
            </a:r>
            <a:r>
              <a:rPr sz="1100" dirty="0">
                <a:solidFill>
                  <a:srgbClr val="374151"/>
                </a:solidFill>
              </a:rPr>
              <a:t>High-performance async server</a:t>
            </a:r>
          </a:p>
          <a:p>
            <a:pPr>
              <a:spcBef>
                <a:spcPts val="800"/>
              </a:spcBef>
            </a:pPr>
            <a:r>
              <a:rPr sz="1200" b="1" dirty="0" err="1">
                <a:solidFill>
                  <a:srgbClr val="111827"/>
                </a:solidFill>
              </a:rPr>
              <a:t>SQLAlchemy</a:t>
            </a:r>
            <a:r>
              <a:rPr sz="1200" b="1" dirty="0">
                <a:solidFill>
                  <a:srgbClr val="111827"/>
                </a:solidFill>
              </a:rPr>
              <a:t> 2.0
</a:t>
            </a:r>
            <a:r>
              <a:rPr sz="1100" dirty="0">
                <a:solidFill>
                  <a:srgbClr val="374151"/>
                </a:solidFill>
              </a:rPr>
              <a:t>Database ORM &amp; sessions</a:t>
            </a:r>
          </a:p>
          <a:p>
            <a:pPr>
              <a:spcBef>
                <a:spcPts val="800"/>
              </a:spcBef>
            </a:pPr>
            <a:r>
              <a:rPr sz="1200" b="1" dirty="0" err="1">
                <a:solidFill>
                  <a:srgbClr val="111827"/>
                </a:solidFill>
              </a:rPr>
              <a:t>Pydantic</a:t>
            </a:r>
            <a:r>
              <a:rPr sz="1200" b="1" dirty="0">
                <a:solidFill>
                  <a:srgbClr val="111827"/>
                </a:solidFill>
              </a:rPr>
              <a:t> v2
</a:t>
            </a:r>
            <a:r>
              <a:rPr sz="1100" dirty="0">
                <a:solidFill>
                  <a:srgbClr val="374151"/>
                </a:solidFill>
              </a:rPr>
              <a:t>Strict schema validation</a:t>
            </a:r>
          </a:p>
          <a:p>
            <a:pPr>
              <a:spcBef>
                <a:spcPts val="800"/>
              </a:spcBef>
            </a:pPr>
            <a:r>
              <a:rPr sz="1200" b="1" dirty="0" err="1">
                <a:solidFill>
                  <a:srgbClr val="111827"/>
                </a:solidFill>
              </a:rPr>
              <a:t>WebSockets</a:t>
            </a:r>
            <a:r>
              <a:rPr sz="1200" b="1" dirty="0">
                <a:solidFill>
                  <a:srgbClr val="111827"/>
                </a:solidFill>
              </a:rPr>
              <a:t>
</a:t>
            </a:r>
            <a:r>
              <a:rPr sz="1100" dirty="0">
                <a:solidFill>
                  <a:srgbClr val="374151"/>
                </a:solidFill>
              </a:rPr>
              <a:t>Live 2-way real-time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2560320" cy="4297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39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AI, NLP &amp; Graph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Neo4j 5.x
</a:t>
            </a:r>
            <a:r>
              <a:rPr sz="1100">
                <a:solidFill>
                  <a:srgbClr val="374151"/>
                </a:solidFill>
              </a:rPr>
              <a:t>Property graph DBMS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PyTorch 2.13
</a:t>
            </a:r>
            <a:r>
              <a:rPr sz="1100">
                <a:solidFill>
                  <a:srgbClr val="374151"/>
                </a:solidFill>
              </a:rPr>
              <a:t>Neural network execution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PyTorch Geometric
</a:t>
            </a:r>
            <a:r>
              <a:rPr sz="1100">
                <a:solidFill>
                  <a:srgbClr val="374151"/>
                </a:solidFill>
              </a:rPr>
              <a:t>GCNConv graph convolution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spaCy 3.8
</a:t>
            </a:r>
            <a:r>
              <a:rPr sz="1100">
                <a:solidFill>
                  <a:srgbClr val="374151"/>
                </a:solidFill>
              </a:rPr>
              <a:t>English NER model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OpenPyXL / Pandas
</a:t>
            </a:r>
            <a:r>
              <a:rPr sz="1100">
                <a:solidFill>
                  <a:srgbClr val="374151"/>
                </a:solidFill>
              </a:rPr>
              <a:t>Excel data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828800"/>
            <a:ext cx="2560320" cy="42976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8116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2400E"/>
                </a:solidFill>
              </a:defRPr>
            </a:pPr>
            <a:r>
              <a:t>Frontend &amp; DevOps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React 18 / 19
</a:t>
            </a:r>
            <a:r>
              <a:rPr sz="1100">
                <a:solidFill>
                  <a:srgbClr val="374151"/>
                </a:solidFill>
              </a:rPr>
              <a:t>Modular component UI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Vite 8
</a:t>
            </a:r>
            <a:r>
              <a:rPr sz="1100">
                <a:solidFill>
                  <a:srgbClr val="374151"/>
                </a:solidFill>
              </a:rPr>
              <a:t>Next-gen frontend bundler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ReactFlow 12
</a:t>
            </a:r>
            <a:r>
              <a:rPr sz="1100">
                <a:solidFill>
                  <a:srgbClr val="374151"/>
                </a:solidFill>
              </a:rPr>
              <a:t>@xyflow/react canvas graph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Lucide React
</a:t>
            </a:r>
            <a:r>
              <a:rPr sz="1100">
                <a:solidFill>
                  <a:srgbClr val="374151"/>
                </a:solidFill>
              </a:rPr>
              <a:t>Semantic UI vector icons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11827"/>
                </a:solidFill>
              </a:rPr>
              <a:t>pytest (70 tests)
</a:t>
            </a:r>
            <a:r>
              <a:rPr sz="1100">
                <a:solidFill>
                  <a:srgbClr val="374151"/>
                </a:solidFill>
              </a:rPr>
              <a:t>Automated testing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924431"/>
            <a:ext cx="93268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Project Demo: Ingestion &amp; Live Alerts</a:t>
            </a:r>
            <a:endParaRPr lang="en-US"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11623987" y="6400800"/>
            <a:ext cx="2632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2F360E-F303-36D8-0A96-FEC568B05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5120640" cy="30175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A2BF87-BF6A-B01B-0346-A406F35E3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28800"/>
            <a:ext cx="5120640" cy="301752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1520" y="5029200"/>
            <a:ext cx="51206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38928"/>
            <a:ext cx="47548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1C1C"/>
                </a:solidFill>
                <a:latin typeface="Arial"/>
              </a:defRPr>
            </a:pPr>
            <a:r>
              <a:t>1. Excel Data Ingestion &amp; Catalog Browser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Upload business spreadsheets (.xlsx) with automated validation, synonym mapping, and zero-configuration graph compilation.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029200"/>
            <a:ext cx="51206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138928"/>
            <a:ext cx="47548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1C1C"/>
                </a:solidFill>
                <a:latin typeface="Arial"/>
              </a:defRPr>
            </a:pPr>
            <a:r>
              <a:t>2. Real-Time Disruption Radar &amp; Event Description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Ingest breaking trade news, weather notices, and custom scenario descriptions to instantly calculate cascading supply chain impacts.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4AF87-A103-7D66-A4D6-D628AC20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>
            <a:extLst>
              <a:ext uri="{FF2B5EF4-FFF2-40B4-BE49-F238E27FC236}">
                <a16:creationId xmlns:a16="http://schemas.microsoft.com/office/drawing/2014/main" id="{C9C38860-6EA3-2259-EF5E-EA6293B4B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>
            <a:extLst>
              <a:ext uri="{FF2B5EF4-FFF2-40B4-BE49-F238E27FC236}">
                <a16:creationId xmlns:a16="http://schemas.microsoft.com/office/drawing/2014/main" id="{AE29F975-E2E8-DECA-06E0-733CAC03949C}"/>
              </a:ext>
            </a:extLst>
          </p:cNvPr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01EB9-003B-6F51-4CF7-F5251DDC780B}"/>
              </a:ext>
            </a:extLst>
          </p:cNvPr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7C8A4-3ACC-340E-45D9-04D89C669DA2}"/>
              </a:ext>
            </a:extLst>
          </p:cNvPr>
          <p:cNvSpPr txBox="1"/>
          <p:nvPr/>
        </p:nvSpPr>
        <p:spPr>
          <a:xfrm>
            <a:off x="1325880" y="924431"/>
            <a:ext cx="93268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Project Demo: Prediction &amp; Replay</a:t>
            </a:r>
            <a:endParaRPr lang="en-US" sz="3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F397B-7C2C-8C3E-D221-F9D827E9AC0D}"/>
              </a:ext>
            </a:extLst>
          </p:cNvPr>
          <p:cNvSpPr txBox="1"/>
          <p:nvPr/>
        </p:nvSpPr>
        <p:spPr>
          <a:xfrm>
            <a:off x="11623987" y="6400800"/>
            <a:ext cx="2632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CF089-32D6-7588-9FA5-3BE89DA9D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5120640" cy="30175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FEC4A3-C6BC-182E-86BF-78B21A900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28800"/>
            <a:ext cx="5120640" cy="30175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1520" y="5029200"/>
            <a:ext cx="51206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47548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1C1C"/>
                </a:solidFill>
                <a:latin typeface="Arial"/>
              </a:defRPr>
            </a:pPr>
            <a:r>
              <a:t>3. Main Prediction Dashboard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Executive cockpit displaying operational health scores, supplier outage status, inventory buffer countdown, and product delay risks.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029200"/>
            <a:ext cx="51206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5138928"/>
            <a:ext cx="47548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1C1C"/>
                </a:solidFill>
                <a:latin typeface="Arial"/>
              </a:defRPr>
            </a:pPr>
            <a:r>
              <a:t>4. Historical Intelligence Replay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Incident archive enabling operators to review and replay previous disruption events to evaluate recovery workflows.</a:t>
            </a:r>
          </a:p>
        </p:txBody>
      </p:sp>
    </p:spTree>
    <p:extLst>
      <p:ext uri="{BB962C8B-B14F-4D97-AF65-F5344CB8AC3E}">
        <p14:creationId xmlns:p14="http://schemas.microsoft.com/office/powerpoint/2010/main" val="2967810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D402C-63E5-D3C6-C2C0-62BD88AB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t_logo.png">
            <a:extLst>
              <a:ext uri="{FF2B5EF4-FFF2-40B4-BE49-F238E27FC236}">
                <a16:creationId xmlns:a16="http://schemas.microsoft.com/office/drawing/2014/main" id="{4363A8C5-39FE-E8F8-73A3-1823E64F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>
            <a:extLst>
              <a:ext uri="{FF2B5EF4-FFF2-40B4-BE49-F238E27FC236}">
                <a16:creationId xmlns:a16="http://schemas.microsoft.com/office/drawing/2014/main" id="{5D304F36-C7CD-342C-DF30-9C655627E5E6}"/>
              </a:ext>
            </a:extLst>
          </p:cNvPr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12EAEF-6BC3-82AF-4F13-C75C3BED79DA}"/>
              </a:ext>
            </a:extLst>
          </p:cNvPr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F35C8-D1C7-9957-F93F-B1A3EF088DB1}"/>
              </a:ext>
            </a:extLst>
          </p:cNvPr>
          <p:cNvSpPr txBox="1"/>
          <p:nvPr/>
        </p:nvSpPr>
        <p:spPr>
          <a:xfrm>
            <a:off x="11623987" y="6400800"/>
            <a:ext cx="2632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0360152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972007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• Neo4j Documentation: </a:t>
            </a:r>
            <a:r>
              <a:rPr sz="1400" b="0">
                <a:solidFill>
                  <a:srgbClr val="374151"/>
                </a:solidFill>
                <a:latin typeface="Arial"/>
              </a:rPr>
              <a:t>Graph Database Management System, Property Graph Ontology &amp; Cypher Query Language.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FastAPI Documentation: </a:t>
            </a:r>
            <a:r>
              <a:rPr sz="1400" b="0">
                <a:solidFill>
                  <a:srgbClr val="374151"/>
                </a:solidFill>
                <a:latin typeface="Arial"/>
              </a:rPr>
              <a:t>High-Performance Asynchronous Python Web Framework and OpenAPI Specification.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spaCy Documentation: </a:t>
            </a:r>
            <a:r>
              <a:rPr sz="1400" b="0">
                <a:solidFill>
                  <a:srgbClr val="374151"/>
                </a:solidFill>
                <a:latin typeface="Arial"/>
              </a:rPr>
              <a:t>Industrial-Strength Natural Language Processing &amp; Named Entity Recognition (NER).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PyTorch Geometric (PyG): </a:t>
            </a:r>
            <a:r>
              <a:rPr sz="1400" b="0">
                <a:solidFill>
                  <a:srgbClr val="374151"/>
                </a:solidFill>
                <a:latin typeface="Arial"/>
              </a:rPr>
              <a:t>Deep Graph Convolutional Networks (GCNConv) for Node-Level Risk Prediction.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React &amp; TypeScript: </a:t>
            </a:r>
            <a:r>
              <a:rPr sz="1400" b="0">
                <a:solidFill>
                  <a:srgbClr val="374151"/>
                </a:solidFill>
                <a:latin typeface="Arial"/>
              </a:rPr>
              <a:t>Component-Driven Single Page Web Application Architecture and Type-Safe State Management.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11827"/>
                </a:solidFill>
                <a:latin typeface="Arial"/>
              </a:rPr>
              <a:t>• Project Source Code &amp; Datasets: </a:t>
            </a:r>
            <a:r>
              <a:rPr sz="1400" b="0">
                <a:solidFill>
                  <a:srgbClr val="374151"/>
                </a:solidFill>
                <a:latin typeface="Arial"/>
              </a:rPr>
              <a:t>AtmoGraph Repository, Mohilya Couture &amp; AdilQadri Indian Supply Chain Benchmark Datasets.</a:t>
            </a:r>
          </a:p>
        </p:txBody>
      </p:sp>
    </p:spTree>
    <p:extLst>
      <p:ext uri="{BB962C8B-B14F-4D97-AF65-F5344CB8AC3E}">
        <p14:creationId xmlns:p14="http://schemas.microsoft.com/office/powerpoint/2010/main" val="276919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816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zeel makwana</cp:lastModifiedBy>
  <cp:revision>4</cp:revision>
  <dcterms:created xsi:type="dcterms:W3CDTF">2013-01-27T09:14:16Z</dcterms:created>
  <dcterms:modified xsi:type="dcterms:W3CDTF">2026-10-01T05:55:07Z</dcterms:modified>
  <cp:category/>
</cp:coreProperties>
</file>