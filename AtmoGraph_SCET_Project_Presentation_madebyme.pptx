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012220" cy="1097280"/>
          </a:xfrm>
          <a:prstGeom prst="rect">
            <a:avLst/>
          </a:prstGeom>
        </p:spPr>
      </p:pic>
      <p:pic>
        <p:nvPicPr>
          <p:cNvPr id="3" name="Picture 2" descr="sc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6576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Times New Roman"/>
              </a:defRPr>
            </a:pPr>
            <a:r>
              <a:t>Sarvajanik College of Engineering and Technology</a:t>
            </a:r>
          </a:p>
          <a:p>
            <a:pPr algn="ctr">
              <a:defRPr sz="1600">
                <a:solidFill>
                  <a:srgbClr val="374151"/>
                </a:solidFill>
                <a:latin typeface="Arial"/>
              </a:defRPr>
            </a:pPr>
            <a:r>
              <a:t>Department of Computer Engineering</a:t>
            </a:r>
          </a:p>
          <a:p>
            <a:pPr algn="ctr">
              <a:defRPr sz="1300">
                <a:solidFill>
                  <a:srgbClr val="6B7280"/>
                </a:solidFill>
                <a:latin typeface="Arial"/>
              </a:defRPr>
            </a:pPr>
            <a:r>
              <a:t>Project-1 (Academic Year 2026-2027)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60020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A61C1C"/>
                </a:solidFill>
                <a:latin typeface="Times New Roman"/>
              </a:defRPr>
            </a:pPr>
            <a:r>
              <a:rPr dirty="0" err="1"/>
              <a:t>AtmoGraph</a:t>
            </a:r>
            <a:endParaRPr dirty="0"/>
          </a:p>
          <a:p>
            <a:pPr algn="ctr">
              <a:defRPr sz="2100" b="1">
                <a:solidFill>
                  <a:srgbClr val="111827"/>
                </a:solidFill>
                <a:latin typeface="Times New Roman"/>
              </a:defRPr>
            </a:pPr>
            <a:r>
              <a:rPr dirty="0"/>
              <a:t>AI-Powered Supply Chain Disruption &amp; Ripple-Effect Prediction Platform</a:t>
            </a:r>
          </a:p>
          <a:p>
            <a:pPr algn="ctr">
              <a:defRPr sz="1400">
                <a:solidFill>
                  <a:srgbClr val="6B7280"/>
                </a:solidFill>
                <a:latin typeface="Arial"/>
              </a:defRPr>
            </a:pPr>
            <a:r>
              <a:rPr dirty="0"/>
              <a:t>Excel Knowledge Graph • Real-Time News NLP • What-If Shock Simulation • Multi-Tenancy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352404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</a:defRPr>
            </a:pPr>
            <a:r>
              <a:rPr dirty="0"/>
              <a:t>Presented By: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dirty="0"/>
              <a:t>1. Zeel Makwana (Enrollment No: [</a:t>
            </a:r>
            <a:r>
              <a:rPr lang="en-US" dirty="0"/>
              <a:t>ET24BTIT815</a:t>
            </a:r>
            <a:r>
              <a:rPr dirty="0"/>
              <a:t>])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dirty="0"/>
              <a:t>2. </a:t>
            </a:r>
            <a:r>
              <a:rPr lang="en-US" dirty="0"/>
              <a:t>Meet Solanki</a:t>
            </a:r>
            <a:r>
              <a:rPr dirty="0"/>
              <a:t> (Enrollment No: [</a:t>
            </a:r>
            <a:r>
              <a:rPr lang="en-US" dirty="0"/>
              <a:t>ET24BTIT817</a:t>
            </a:r>
            <a:r>
              <a:rPr dirty="0"/>
              <a:t>])</a:t>
            </a:r>
            <a:endParaRPr lang="en-US" dirty="0"/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lang="en-IN" dirty="0"/>
              <a:t>3. Smit </a:t>
            </a:r>
            <a:r>
              <a:rPr lang="en-IN" dirty="0" err="1"/>
              <a:t>Sapariya</a:t>
            </a:r>
            <a:r>
              <a:rPr lang="en-IN" dirty="0"/>
              <a:t>(</a:t>
            </a:r>
            <a:r>
              <a:rPr lang="en-IN" dirty="0" err="1"/>
              <a:t>Enrollment</a:t>
            </a:r>
            <a:r>
              <a:rPr lang="en-IN" dirty="0"/>
              <a:t> No: [ET23BTIT121])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lang="en-IN" dirty="0"/>
              <a:t>4. Upen </a:t>
            </a:r>
            <a:r>
              <a:rPr lang="en-IN" dirty="0" err="1"/>
              <a:t>sapariya</a:t>
            </a:r>
            <a:r>
              <a:rPr lang="en-IN" dirty="0"/>
              <a:t> (</a:t>
            </a:r>
            <a:r>
              <a:rPr lang="en-IN" dirty="0" err="1"/>
              <a:t>Enrollment</a:t>
            </a:r>
            <a:r>
              <a:rPr lang="en-IN" dirty="0"/>
              <a:t> No: [ET23BTIT122])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132320" y="4846320"/>
            <a:ext cx="418646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</a:defRPr>
            </a:pPr>
            <a:r>
              <a:rPr dirty="0"/>
              <a:t>Supervised By: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lang="en-IN" sz="1300" dirty="0">
                <a:solidFill>
                  <a:srgbClr val="374151"/>
                </a:solidFill>
              </a:rPr>
              <a:t>Dr. Ashishkumar Chaudhari</a:t>
            </a:r>
            <a:endParaRPr lang="en-US" dirty="0"/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dirty="0"/>
              <a:t>Assistant Professor, Department of </a:t>
            </a:r>
            <a:r>
              <a:rPr lang="en-IN" sz="1300" dirty="0">
                <a:solidFill>
                  <a:srgbClr val="374151"/>
                </a:solidFill>
              </a:rPr>
              <a:t>Information Technology</a:t>
            </a:r>
            <a:endParaRPr dirty="0"/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rPr dirty="0" err="1"/>
              <a:t>Sarvajanik</a:t>
            </a:r>
            <a:r>
              <a:rPr dirty="0"/>
              <a:t>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IN" sz="3500" dirty="0" err="1">
                <a:latin typeface="Times New Roman"/>
                <a:ea typeface="Times New Roman"/>
                <a:cs typeface="Times New Roman"/>
              </a:rPr>
              <a:t>AtmoGraph</a:t>
            </a:r>
            <a:r>
              <a:rPr lang="en-IN" sz="3500" dirty="0">
                <a:latin typeface="Times New Roman"/>
                <a:ea typeface="Times New Roman"/>
                <a:cs typeface="Times New Roman"/>
              </a:rPr>
              <a:t> Overview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4F0FA2-69F7-D9E4-59BF-F6727EAB5335}"/>
              </a:ext>
            </a:extLst>
          </p:cNvPr>
          <p:cNvSpPr txBox="1"/>
          <p:nvPr/>
        </p:nvSpPr>
        <p:spPr>
          <a:xfrm>
            <a:off x="1211580" y="2057400"/>
            <a:ext cx="9738360" cy="247760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5400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A tool to understand supply-chain disruptions.</a:t>
            </a:r>
          </a:p>
          <a:p>
            <a:pPr marL="5400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News and company data are used to create links between events, suppliers, and products.</a:t>
            </a:r>
          </a:p>
          <a:p>
            <a:pPr marL="5400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 app shows possible impact, delay, and risk scores.</a:t>
            </a:r>
          </a:p>
          <a:p>
            <a:pPr marL="5400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Users can explore the graph, history, and what-if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IN" sz="3500" dirty="0">
                <a:latin typeface="Times New Roman"/>
                <a:ea typeface="Times New Roman"/>
                <a:cs typeface="Times New Roman"/>
              </a:rPr>
              <a:t>Problem and Project Goal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C68008-FE1E-E0BA-6FA5-5DAEB57FB688}"/>
              </a:ext>
            </a:extLst>
          </p:cNvPr>
          <p:cNvSpPr txBox="1"/>
          <p:nvPr/>
        </p:nvSpPr>
        <p:spPr>
          <a:xfrm>
            <a:off x="1325879" y="1874728"/>
            <a:ext cx="844738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Disruption news is spread across different sources.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is difficult to manually trace the impact from a supplier to a product.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Goal: Quickly show the suppliers and products connected to an event.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 output provides decision support; the final business decision is made by a human.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945447"/>
            <a:ext cx="93268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IN" sz="3600" dirty="0">
                <a:latin typeface="Times New Roman"/>
                <a:ea typeface="Times New Roman"/>
                <a:cs typeface="Times New Roman"/>
              </a:rPr>
              <a:t>System Architecture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Data Ingestion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/>
              <a:t>User uploads Excel / JSON workbooks with Suppliers, Materials, BOM &amp; Routes.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549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5468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Graph Building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/>
              <a:t>SQLite stores normalized tables; Neo4j links nodes &amp; relationships.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6577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1208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9496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802192"/>
            <a:ext cx="1691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Live News Scan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 err="1"/>
              <a:t>spaCy</a:t>
            </a:r>
            <a:r>
              <a:rPr dirty="0"/>
              <a:t> NLP  extract locations, disruption types &amp; severities.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0605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3524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Hybrid Simulation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/>
              <a:t>Disruption Engine computes shortage math; </a:t>
            </a:r>
            <a:r>
              <a:rPr dirty="0" err="1"/>
              <a:t>PyG</a:t>
            </a:r>
            <a:r>
              <a:rPr dirty="0"/>
              <a:t> GNN scores node risks.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4633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9264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87552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Live Visual UI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 err="1"/>
              <a:t>ReactFlow</a:t>
            </a:r>
            <a:r>
              <a:rPr dirty="0"/>
              <a:t> renders spider-web graph; WebSocket pushes real-time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IN" sz="3500" dirty="0">
                <a:latin typeface="Times New Roman"/>
                <a:ea typeface="Times New Roman"/>
                <a:cs typeface="Times New Roman"/>
              </a:rPr>
              <a:t>News to Event Graph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FA4499-E70D-994E-757F-CD99C9897EF2}"/>
              </a:ext>
            </a:extLst>
          </p:cNvPr>
          <p:cNvSpPr txBox="1"/>
          <p:nvPr/>
        </p:nvSpPr>
        <p:spPr>
          <a:xfrm>
            <a:off x="1325880" y="1819656"/>
            <a:ext cx="9829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b="1" dirty="0"/>
              <a:t>1.</a:t>
            </a:r>
            <a:r>
              <a:rPr lang="en-IN" sz="2800" dirty="0"/>
              <a:t> Regex + </a:t>
            </a:r>
            <a:r>
              <a:rPr lang="en-IN" sz="2800" dirty="0" err="1"/>
              <a:t>spaCy</a:t>
            </a:r>
            <a:r>
              <a:rPr lang="en-IN" sz="2800" dirty="0"/>
              <a:t> scan the title and body to find the </a:t>
            </a:r>
            <a:r>
              <a:rPr lang="en-IN" sz="2800" b="1" dirty="0"/>
              <a:t>event, severity, location, and entities</a:t>
            </a:r>
            <a:r>
              <a:rPr lang="en-IN" sz="2800" dirty="0"/>
              <a:t>. </a:t>
            </a:r>
          </a:p>
          <a:p>
            <a:pPr lvl="0"/>
            <a:r>
              <a:rPr lang="en-IN" sz="2800" b="1" dirty="0"/>
              <a:t>2.</a:t>
            </a:r>
            <a:r>
              <a:rPr lang="en-IN" sz="2800" dirty="0"/>
              <a:t> An </a:t>
            </a:r>
            <a:r>
              <a:rPr lang="en-IN" sz="2800" b="1" dirty="0"/>
              <a:t>Event record</a:t>
            </a:r>
            <a:r>
              <a:rPr lang="en-IN" sz="2800" dirty="0"/>
              <a:t> is created in SQL, and supplier/product names are matched with existing records. </a:t>
            </a:r>
          </a:p>
          <a:p>
            <a:pPr lvl="0"/>
            <a:r>
              <a:rPr lang="en-IN" sz="2800" b="1" dirty="0"/>
              <a:t>3.</a:t>
            </a:r>
            <a:r>
              <a:rPr lang="en-IN" sz="2800" dirty="0"/>
              <a:t> </a:t>
            </a:r>
            <a:r>
              <a:rPr lang="en-IN" sz="2800" b="1" dirty="0"/>
              <a:t>Event → Supplier → Product</a:t>
            </a:r>
            <a:r>
              <a:rPr lang="en-IN" sz="2800" dirty="0"/>
              <a:t> relationships are synchronized between SQL and Neo4j. </a:t>
            </a:r>
          </a:p>
          <a:p>
            <a:pPr lvl="0"/>
            <a:r>
              <a:rPr lang="en-IN" sz="2800" b="1" dirty="0"/>
              <a:t>4.</a:t>
            </a:r>
            <a:r>
              <a:rPr lang="en-IN" sz="2800" dirty="0"/>
              <a:t> If a name is not matched, it can still be added as a </a:t>
            </a:r>
            <a:r>
              <a:rPr lang="en-IN" sz="2800" b="1" dirty="0"/>
              <a:t>graph entity</a:t>
            </a:r>
            <a:r>
              <a:rPr lang="en-IN" sz="2800" dirty="0"/>
              <a:t>, but its connection to the existing </a:t>
            </a:r>
            <a:r>
              <a:rPr lang="en-IN" sz="2800" dirty="0" err="1"/>
              <a:t>catalog</a:t>
            </a:r>
            <a:r>
              <a:rPr lang="en-IN" sz="2800" dirty="0"/>
              <a:t> may be missing.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sz="3500" dirty="0"/>
              <a:t>Core Workflow Studio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6DDA8B-D75E-D4DD-D1A3-2F70F9C6B39A}"/>
              </a:ext>
            </a:extLst>
          </p:cNvPr>
          <p:cNvSpPr txBox="1"/>
          <p:nvPr/>
        </p:nvSpPr>
        <p:spPr>
          <a:xfrm>
            <a:off x="1325879" y="1965960"/>
            <a:ext cx="946010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SQLite:</a:t>
            </a:r>
            <a:r>
              <a:rPr lang="en-IN" sz="2800" dirty="0"/>
              <a:t> Stores Events, Suppliers, Products, and Supply Chain Links.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Business tables:</a:t>
            </a:r>
            <a:r>
              <a:rPr lang="en-IN" sz="2800" dirty="0"/>
              <a:t> Store Plants, Components, Inventory, Capacity, Demand, and Routes.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Neo4j:</a:t>
            </a:r>
            <a:r>
              <a:rPr lang="en-IN" sz="2800" dirty="0"/>
              <a:t> Stores flexible nodes and relationships. Example: </a:t>
            </a:r>
            <a:r>
              <a:rPr lang="en-IN" sz="2800" b="1" dirty="0"/>
              <a:t>Event → AFFECTS → Supplier</a:t>
            </a:r>
            <a:r>
              <a:rPr lang="en-IN" sz="28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Supplier → SUPPLIES → Product:</a:t>
            </a:r>
            <a:r>
              <a:rPr lang="en-IN" sz="2800" dirty="0"/>
              <a:t> The depth of the graph affects the input given to the GNN.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IN" sz="3500" dirty="0">
                <a:latin typeface="Times New Roman"/>
                <a:ea typeface="Times New Roman"/>
                <a:cs typeface="Times New Roman"/>
              </a:rPr>
              <a:t>Risk Prediction and GNN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623986" y="6400800"/>
            <a:ext cx="26321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D4C88-90B9-EDF1-7995-19BA242E02E7}"/>
              </a:ext>
            </a:extLst>
          </p:cNvPr>
          <p:cNvSpPr txBox="1"/>
          <p:nvPr/>
        </p:nvSpPr>
        <p:spPr>
          <a:xfrm>
            <a:off x="1234440" y="1859005"/>
            <a:ext cx="96469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Rule Score:</a:t>
            </a:r>
            <a:r>
              <a:rPr lang="en-IN" sz="2800" dirty="0"/>
              <a:t> Based on event severity, number of affected suppliers/products, and event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GNN:</a:t>
            </a:r>
            <a:r>
              <a:rPr lang="en-IN" sz="2800" dirty="0"/>
              <a:t> Takes </a:t>
            </a:r>
            <a:r>
              <a:rPr lang="en-IN" sz="2800" b="1" dirty="0"/>
              <a:t>10 node features</a:t>
            </a:r>
            <a:r>
              <a:rPr lang="en-IN" sz="2800" dirty="0"/>
              <a:t> → passes them through </a:t>
            </a:r>
            <a:r>
              <a:rPr lang="en-IN" sz="2800" b="1" dirty="0"/>
              <a:t>2 GCN layers with 32 hidden features</a:t>
            </a:r>
            <a:r>
              <a:rPr lang="en-IN" sz="2800" dirty="0"/>
              <a:t> → produces a </a:t>
            </a:r>
            <a:r>
              <a:rPr lang="en-IN" sz="2800" b="1" dirty="0"/>
              <a:t>0–100 risk score</a:t>
            </a:r>
            <a:r>
              <a:rPr lang="en-IN" sz="2800" dirty="0"/>
              <a:t> for each node.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Hybrid Score:</a:t>
            </a:r>
            <a:r>
              <a:rPr lang="en-IN" sz="2800" dirty="0"/>
              <a:t> Combines </a:t>
            </a:r>
            <a:r>
              <a:rPr lang="en-IN" sz="2800" b="1" dirty="0"/>
              <a:t>40% rule score + 60% highest GNN node score</a:t>
            </a:r>
            <a:r>
              <a:rPr lang="en-IN" sz="28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Training Labels:</a:t>
            </a:r>
            <a:r>
              <a:rPr lang="en-IN" sz="2800" dirty="0"/>
              <a:t> The labels are created using the severity, impact, and delay rules defined in the code. </a:t>
            </a:r>
            <a:r>
              <a:rPr lang="en-IN" sz="2800" b="1" dirty="0"/>
              <a:t>Real-world accuracy has not been proven yet.</a:t>
            </a: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IN" sz="3500" dirty="0"/>
              <a:t>Technologies, Tools &amp; Libraries Used</a:t>
            </a:r>
            <a:endParaRPr sz="350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Languages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Python 3.12
</a:t>
            </a:r>
            <a:r>
              <a:rPr sz="1100">
                <a:solidFill>
                  <a:srgbClr val="374151"/>
                </a:solidFill>
              </a:rPr>
              <a:t>Core backend, AI &amp; simulation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TypeScript ~6.0
</a:t>
            </a:r>
            <a:r>
              <a:rPr sz="1100">
                <a:solidFill>
                  <a:srgbClr val="374151"/>
                </a:solidFill>
              </a:rPr>
              <a:t>Type-safe frontend code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SQL
</a:t>
            </a:r>
            <a:r>
              <a:rPr sz="1100">
                <a:solidFill>
                  <a:srgbClr val="374151"/>
                </a:solidFill>
              </a:rPr>
              <a:t>Relational data management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Cypher
</a:t>
            </a:r>
            <a:r>
              <a:rPr sz="1100">
                <a:solidFill>
                  <a:srgbClr val="374151"/>
                </a:solidFill>
              </a:rPr>
              <a:t>Neo4j graph query language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HTML5 / CSS3
</a:t>
            </a:r>
            <a:r>
              <a:rPr sz="1100">
                <a:solidFill>
                  <a:srgbClr val="374151"/>
                </a:solidFill>
              </a:rPr>
              <a:t>Obsidian Glass styling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28800"/>
            <a:ext cx="2560320" cy="4297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19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1C1C"/>
                </a:solidFill>
              </a:defRPr>
            </a:pPr>
            <a:r>
              <a:rPr dirty="0"/>
              <a:t>Backend &amp; APIs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FastAPI</a:t>
            </a:r>
            <a:r>
              <a:rPr sz="1200" b="1" dirty="0">
                <a:solidFill>
                  <a:srgbClr val="111827"/>
                </a:solidFill>
              </a:rPr>
              <a:t> 0.141
</a:t>
            </a:r>
            <a:r>
              <a:rPr sz="1100" dirty="0">
                <a:solidFill>
                  <a:srgbClr val="374151"/>
                </a:solidFill>
              </a:rPr>
              <a:t>Ultra-fast ASGI framework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Uvicorn</a:t>
            </a:r>
            <a:r>
              <a:rPr sz="1200" b="1" dirty="0">
                <a:solidFill>
                  <a:srgbClr val="111827"/>
                </a:solidFill>
              </a:rPr>
              <a:t> 0.52
</a:t>
            </a:r>
            <a:r>
              <a:rPr sz="1100" dirty="0">
                <a:solidFill>
                  <a:srgbClr val="374151"/>
                </a:solidFill>
              </a:rPr>
              <a:t>High-performance async server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SQLAlchemy</a:t>
            </a:r>
            <a:r>
              <a:rPr sz="1200" b="1" dirty="0">
                <a:solidFill>
                  <a:srgbClr val="111827"/>
                </a:solidFill>
              </a:rPr>
              <a:t> 2.0
</a:t>
            </a:r>
            <a:r>
              <a:rPr sz="1100" dirty="0">
                <a:solidFill>
                  <a:srgbClr val="374151"/>
                </a:solidFill>
              </a:rPr>
              <a:t>Database ORM &amp; sessions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Pydantic</a:t>
            </a:r>
            <a:r>
              <a:rPr sz="1200" b="1" dirty="0">
                <a:solidFill>
                  <a:srgbClr val="111827"/>
                </a:solidFill>
              </a:rPr>
              <a:t> v2
</a:t>
            </a:r>
            <a:r>
              <a:rPr sz="1100" dirty="0">
                <a:solidFill>
                  <a:srgbClr val="374151"/>
                </a:solidFill>
              </a:rPr>
              <a:t>Strict schema validation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WebSockets</a:t>
            </a:r>
            <a:r>
              <a:rPr sz="1200" b="1" dirty="0">
                <a:solidFill>
                  <a:srgbClr val="111827"/>
                </a:solidFill>
              </a:rPr>
              <a:t>
</a:t>
            </a:r>
            <a:r>
              <a:rPr sz="1100" dirty="0">
                <a:solidFill>
                  <a:srgbClr val="374151"/>
                </a:solidFill>
              </a:rPr>
              <a:t>Live 2-way real-time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2560320" cy="4297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39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AI, NLP &amp; Graph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Neo4j 5.x
</a:t>
            </a:r>
            <a:r>
              <a:rPr sz="1100">
                <a:solidFill>
                  <a:srgbClr val="374151"/>
                </a:solidFill>
              </a:rPr>
              <a:t>Property graph DBMS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PyTorch 2.13
</a:t>
            </a:r>
            <a:r>
              <a:rPr sz="1100">
                <a:solidFill>
                  <a:srgbClr val="374151"/>
                </a:solidFill>
              </a:rPr>
              <a:t>Neural network execution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PyTorch Geometric
</a:t>
            </a:r>
            <a:r>
              <a:rPr sz="1100">
                <a:solidFill>
                  <a:srgbClr val="374151"/>
                </a:solidFill>
              </a:rPr>
              <a:t>GCNConv graph convolution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spaCy 3.8
</a:t>
            </a:r>
            <a:r>
              <a:rPr sz="1100">
                <a:solidFill>
                  <a:srgbClr val="374151"/>
                </a:solidFill>
              </a:rPr>
              <a:t>English NER model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OpenPyXL / Pandas
</a:t>
            </a:r>
            <a:r>
              <a:rPr sz="1100">
                <a:solidFill>
                  <a:srgbClr val="374151"/>
                </a:solidFill>
              </a:rPr>
              <a:t>Excel data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828800"/>
            <a:ext cx="2560320" cy="42976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6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2400E"/>
                </a:solidFill>
              </a:defRPr>
            </a:pPr>
            <a:r>
              <a:t>Frontend &amp; DevOps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React 18 / 19
</a:t>
            </a:r>
            <a:r>
              <a:rPr sz="1100">
                <a:solidFill>
                  <a:srgbClr val="374151"/>
                </a:solidFill>
              </a:rPr>
              <a:t>Modular component UI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Vite 8
</a:t>
            </a:r>
            <a:r>
              <a:rPr sz="1100">
                <a:solidFill>
                  <a:srgbClr val="374151"/>
                </a:solidFill>
              </a:rPr>
              <a:t>Next-gen frontend bundler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ReactFlow 12
</a:t>
            </a:r>
            <a:r>
              <a:rPr sz="1100">
                <a:solidFill>
                  <a:srgbClr val="374151"/>
                </a:solidFill>
              </a:rPr>
              <a:t>@xyflow/react canvas graph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Lucide React
</a:t>
            </a:r>
            <a:r>
              <a:rPr sz="1100">
                <a:solidFill>
                  <a:srgbClr val="374151"/>
                </a:solidFill>
              </a:rPr>
              <a:t>Semantic UI vector icons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pytest (70 tests)
</a:t>
            </a:r>
            <a:r>
              <a:rPr sz="1100">
                <a:solidFill>
                  <a:srgbClr val="374151"/>
                </a:solidFill>
              </a:rPr>
              <a:t>Automated testing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924431"/>
            <a:ext cx="93268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US" sz="3500" dirty="0"/>
              <a:t>Project Demo and </a:t>
            </a:r>
            <a:r>
              <a:rPr lang="en-US" sz="3600" dirty="0">
                <a:latin typeface="Times New Roman"/>
                <a:ea typeface="Times New Roman"/>
                <a:cs typeface="Times New Roman"/>
              </a:rPr>
              <a:t>Current Results</a:t>
            </a:r>
            <a:endParaRPr lang="en-US"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623987" y="6400800"/>
            <a:ext cx="2632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rPr lang="en-US" dirty="0"/>
              <a:t>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2F360E-F303-36D8-0A96-FEC568B0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19656"/>
            <a:ext cx="5159969" cy="27638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417E0C-5387-0E01-31DD-D52E125CF8E4}"/>
              </a:ext>
            </a:extLst>
          </p:cNvPr>
          <p:cNvSpPr txBox="1"/>
          <p:nvPr/>
        </p:nvSpPr>
        <p:spPr>
          <a:xfrm>
            <a:off x="668594" y="4718919"/>
            <a:ext cx="4311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 business data in form of excel sheet 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A2BF87-BF6A-B01B-0346-A406F35E3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631" y="2944426"/>
            <a:ext cx="5864776" cy="32782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7892FF-5C54-9A23-1B92-8E0E01D8701A}"/>
              </a:ext>
            </a:extLst>
          </p:cNvPr>
          <p:cNvSpPr txBox="1"/>
          <p:nvPr/>
        </p:nvSpPr>
        <p:spPr>
          <a:xfrm>
            <a:off x="5791200" y="63469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Add events and its discretion from which it calculates the affects and predictions </a:t>
            </a:r>
            <a:endParaRPr lang="en-I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AF87-A103-7D66-A4D6-D628AC20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>
            <a:extLst>
              <a:ext uri="{FF2B5EF4-FFF2-40B4-BE49-F238E27FC236}">
                <a16:creationId xmlns:a16="http://schemas.microsoft.com/office/drawing/2014/main" id="{C9C38860-6EA3-2259-EF5E-EA6293B4B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>
            <a:extLst>
              <a:ext uri="{FF2B5EF4-FFF2-40B4-BE49-F238E27FC236}">
                <a16:creationId xmlns:a16="http://schemas.microsoft.com/office/drawing/2014/main" id="{AE29F975-E2E8-DECA-06E0-733CAC03949C}"/>
              </a:ext>
            </a:extLst>
          </p:cNvPr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01EB9-003B-6F51-4CF7-F5251DDC780B}"/>
              </a:ext>
            </a:extLst>
          </p:cNvPr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7C8A4-3ACC-340E-45D9-04D89C669DA2}"/>
              </a:ext>
            </a:extLst>
          </p:cNvPr>
          <p:cNvSpPr txBox="1"/>
          <p:nvPr/>
        </p:nvSpPr>
        <p:spPr>
          <a:xfrm>
            <a:off x="1325880" y="924431"/>
            <a:ext cx="93268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rPr lang="en-US" sz="3500" dirty="0"/>
              <a:t>Project Demo and </a:t>
            </a:r>
            <a:r>
              <a:rPr lang="en-US" sz="3600" dirty="0">
                <a:latin typeface="Times New Roman"/>
                <a:ea typeface="Times New Roman"/>
                <a:cs typeface="Times New Roman"/>
              </a:rPr>
              <a:t>Current Results</a:t>
            </a:r>
            <a:endParaRPr 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F397B-7C2C-8C3E-D221-F9D827E9AC0D}"/>
              </a:ext>
            </a:extLst>
          </p:cNvPr>
          <p:cNvSpPr txBox="1"/>
          <p:nvPr/>
        </p:nvSpPr>
        <p:spPr>
          <a:xfrm>
            <a:off x="11623987" y="6400800"/>
            <a:ext cx="2632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rPr lang="en-US" dirty="0"/>
              <a:t>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CF089-32D6-7588-9FA5-3BE89DA9D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1819656"/>
            <a:ext cx="5808898" cy="2971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8E9598-0230-A605-9809-E64853904BB1}"/>
              </a:ext>
            </a:extLst>
          </p:cNvPr>
          <p:cNvSpPr txBox="1"/>
          <p:nvPr/>
        </p:nvSpPr>
        <p:spPr>
          <a:xfrm>
            <a:off x="1234440" y="4873077"/>
            <a:ext cx="4861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Main dash board of prediction user can </a:t>
            </a:r>
            <a:r>
              <a:rPr lang="en-US" sz="1800" dirty="0" err="1"/>
              <a:t>knoe</a:t>
            </a:r>
            <a:r>
              <a:rPr lang="en-US" sz="1800" dirty="0"/>
              <a:t> status of each </a:t>
            </a:r>
            <a:r>
              <a:rPr lang="en-US" sz="1800" dirty="0" err="1"/>
              <a:t>sup;ly</a:t>
            </a:r>
            <a:r>
              <a:rPr lang="en-US" sz="1800" dirty="0"/>
              <a:t> and effects on it </a:t>
            </a:r>
            <a:endParaRPr lang="en-IN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FEC4A3-C6BC-182E-86BF-78B21A900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983" y="2960263"/>
            <a:ext cx="5808898" cy="32429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8CF492-0594-C57D-BFF2-6CC91EF35259}"/>
              </a:ext>
            </a:extLst>
          </p:cNvPr>
          <p:cNvSpPr txBox="1"/>
          <p:nvPr/>
        </p:nvSpPr>
        <p:spPr>
          <a:xfrm>
            <a:off x="6390968" y="63057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History of </a:t>
            </a:r>
            <a:r>
              <a:rPr lang="en-US" sz="1800" dirty="0" err="1"/>
              <a:t>privios</a:t>
            </a:r>
            <a:r>
              <a:rPr lang="en-US" sz="1800" dirty="0"/>
              <a:t> </a:t>
            </a:r>
            <a:r>
              <a:rPr lang="en-US" sz="1800" dirty="0" err="1"/>
              <a:t>evenst</a:t>
            </a:r>
            <a:r>
              <a:rPr lang="en-US" sz="1800" dirty="0"/>
              <a:t> if it happens again user can activate it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67810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402C-63E5-D3C6-C2C0-62BD88AB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>
            <a:extLst>
              <a:ext uri="{FF2B5EF4-FFF2-40B4-BE49-F238E27FC236}">
                <a16:creationId xmlns:a16="http://schemas.microsoft.com/office/drawing/2014/main" id="{4363A8C5-39FE-E8F8-73A3-1823E64F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>
            <a:extLst>
              <a:ext uri="{FF2B5EF4-FFF2-40B4-BE49-F238E27FC236}">
                <a16:creationId xmlns:a16="http://schemas.microsoft.com/office/drawing/2014/main" id="{5D304F36-C7CD-342C-DF30-9C655627E5E6}"/>
              </a:ext>
            </a:extLst>
          </p:cNvPr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12EAEF-6BC3-82AF-4F13-C75C3BED79DA}"/>
              </a:ext>
            </a:extLst>
          </p:cNvPr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F35C8-D1C7-9957-F93F-B1A3EF088DB1}"/>
              </a:ext>
            </a:extLst>
          </p:cNvPr>
          <p:cNvSpPr txBox="1"/>
          <p:nvPr/>
        </p:nvSpPr>
        <p:spPr>
          <a:xfrm>
            <a:off x="11623987" y="6400800"/>
            <a:ext cx="2632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rPr lang="en-US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0FDF2-164E-2DDC-3693-D1471B109F03}"/>
              </a:ext>
            </a:extLst>
          </p:cNvPr>
          <p:cNvSpPr txBox="1"/>
          <p:nvPr/>
        </p:nvSpPr>
        <p:spPr>
          <a:xfrm>
            <a:off x="1234440" y="2057400"/>
            <a:ext cx="86818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Neo4j Documentation</a:t>
            </a:r>
            <a:r>
              <a:rPr lang="en-IN" sz="2800" dirty="0"/>
              <a:t> — Graph Database &amp; Cypher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 err="1"/>
              <a:t>FastAPI</a:t>
            </a:r>
            <a:r>
              <a:rPr lang="en-IN" sz="2800" b="1" dirty="0"/>
              <a:t> Documentation</a:t>
            </a:r>
            <a:r>
              <a:rPr lang="en-IN" sz="2800" dirty="0"/>
              <a:t> — Backend APIs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 err="1"/>
              <a:t>spaCy</a:t>
            </a:r>
            <a:r>
              <a:rPr lang="en-IN" sz="2800" b="1" dirty="0"/>
              <a:t> Documentation</a:t>
            </a:r>
            <a:r>
              <a:rPr lang="en-IN" sz="2800" dirty="0"/>
              <a:t> — Natural Language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 err="1"/>
              <a:t>PyTorch</a:t>
            </a:r>
            <a:r>
              <a:rPr lang="en-IN" sz="2800" b="1" dirty="0"/>
              <a:t> Geometric Documentation</a:t>
            </a:r>
            <a:r>
              <a:rPr lang="en-IN" sz="2800" dirty="0"/>
              <a:t> — Graph Neural Networks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React &amp; TypeScript Documentation</a:t>
            </a:r>
            <a:r>
              <a:rPr lang="en-IN" sz="2800" dirty="0"/>
              <a:t> — Frontend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Project Source Code &amp; Dataset</a:t>
            </a:r>
            <a:r>
              <a:rPr lang="en-IN" sz="2800" dirty="0"/>
              <a:t> — </a:t>
            </a:r>
            <a:r>
              <a:rPr lang="en-IN" sz="2800" dirty="0" err="1"/>
              <a:t>AtmoGraph</a:t>
            </a:r>
            <a:r>
              <a:rPr lang="en-IN" sz="2800" dirty="0"/>
              <a:t> Implementation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CD0D46-F9E0-75AE-19B9-BAE22846FAC4}"/>
              </a:ext>
            </a:extLst>
          </p:cNvPr>
          <p:cNvSpPr txBox="1"/>
          <p:nvPr/>
        </p:nvSpPr>
        <p:spPr>
          <a:xfrm>
            <a:off x="1234440" y="914400"/>
            <a:ext cx="226690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lang="en-IN" sz="3500" b="1" dirty="0"/>
          </a:p>
        </p:txBody>
      </p:sp>
    </p:spTree>
    <p:extLst>
      <p:ext uri="{BB962C8B-B14F-4D97-AF65-F5344CB8AC3E}">
        <p14:creationId xmlns:p14="http://schemas.microsoft.com/office/powerpoint/2010/main" val="276919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816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zeel makwana</cp:lastModifiedBy>
  <cp:revision>4</cp:revision>
  <dcterms:created xsi:type="dcterms:W3CDTF">2013-01-27T09:14:16Z</dcterms:created>
  <dcterms:modified xsi:type="dcterms:W3CDTF">2026-10-01T05:55:07Z</dcterms:modified>
  <cp:category/>
</cp:coreProperties>
</file>