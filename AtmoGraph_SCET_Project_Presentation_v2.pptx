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012220" cy="1097280"/>
          </a:xfrm>
          <a:prstGeom prst="rect">
            <a:avLst/>
          </a:prstGeom>
        </p:spPr>
      </p:pic>
      <p:pic>
        <p:nvPicPr>
          <p:cNvPr id="3" name="Picture 2" descr="sc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2004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65760"/>
            <a:ext cx="8534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11827"/>
                </a:solidFill>
                <a:latin typeface="Times New Roman"/>
              </a:defRPr>
            </a:pPr>
            <a:r>
              <a:t>Sarvajanik College of Engineering and Technology</a:t>
            </a:r>
          </a:p>
          <a:p>
            <a:pPr algn="ctr">
              <a:defRPr sz="1600">
                <a:solidFill>
                  <a:srgbClr val="374151"/>
                </a:solidFill>
                <a:latin typeface="Arial"/>
              </a:defRPr>
            </a:pPr>
            <a:r>
              <a:t>Department of Computer Engineering</a:t>
            </a:r>
          </a:p>
          <a:p>
            <a:pPr algn="ctr">
              <a:defRPr sz="1300">
                <a:solidFill>
                  <a:srgbClr val="6B7280"/>
                </a:solidFill>
                <a:latin typeface="Arial"/>
              </a:defRPr>
            </a:pPr>
            <a:r>
              <a:t>Project-1 (Academic Year 2026-2027)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160020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A61C1C"/>
                </a:solidFill>
                <a:latin typeface="Times New Roman"/>
              </a:defRPr>
            </a:pPr>
            <a:r>
              <a:t>AtmoGraph</a:t>
            </a:r>
          </a:p>
          <a:p>
            <a:pPr algn="ctr">
              <a:defRPr sz="2100" b="1">
                <a:solidFill>
                  <a:srgbClr val="111827"/>
                </a:solidFill>
                <a:latin typeface="Times New Roman"/>
              </a:defRPr>
            </a:pPr>
            <a:r>
              <a:t>AI-Driven Supply Chain Disruption Predictor &amp; Multi-Tenant Graph Platform</a:t>
            </a:r>
          </a:p>
          <a:p>
            <a:pPr algn="ctr">
              <a:defRPr sz="1400">
                <a:solidFill>
                  <a:srgbClr val="6B7280"/>
                </a:solidFill>
                <a:latin typeface="Arial"/>
              </a:defRPr>
            </a:pPr>
            <a:r>
              <a:t>Dynamic Network Topology • Real-Time Incident Radar • Multi-Tier Ripple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</a:defRPr>
            </a:pPr>
            <a:r>
              <a:t>Presented By: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1. Zeel Makwana (Enrollment No: [230120107000])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2. Team Member 2 (Enrollment No: [230120107000])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84632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</a:defRPr>
            </a:pPr>
            <a:r>
              <a:t>Supervised By: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[Supervisor's Name]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Assistant Professor, Department of Computer Engineering</a:t>
            </a:r>
          </a:p>
          <a:p>
            <a:pPr algn="l">
              <a:defRPr sz="1300">
                <a:solidFill>
                  <a:srgbClr val="374151"/>
                </a:solidFill>
              </a:defRPr>
            </a:pPr>
            <a:r>
              <a:t>Sarvajanik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Introduction &amp;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What is AtmoGraph?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Core Concept: </a:t>
            </a:r>
            <a:r>
              <a:rPr b="0" sz="1300">
                <a:solidFill>
                  <a:srgbClr val="374151"/>
                </a:solidFill>
                <a:latin typeface="Arial"/>
              </a:rPr>
              <a:t>Turns flat spreadsheets into living, interactive supply chain graphs.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Multi-Tier Mapping: </a:t>
            </a:r>
            <a:r>
              <a:rPr b="0" sz="1300">
                <a:solidFill>
                  <a:srgbClr val="374151"/>
                </a:solidFill>
                <a:latin typeface="Arial"/>
              </a:rPr>
              <a:t>Connects Suppliers ➔ Raw Materials ➔ Plants ➔ Finished Products.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Early Warning Radar: </a:t>
            </a:r>
            <a:r>
              <a:rPr b="0" sz="1300">
                <a:solidFill>
                  <a:srgbClr val="374151"/>
                </a:solidFill>
                <a:latin typeface="Arial"/>
              </a:rPr>
              <a:t>Alerts businesses to real-world threats before shipments fail.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Target Users: </a:t>
            </a:r>
            <a:r>
              <a:rPr b="0" sz="1300">
                <a:solidFill>
                  <a:srgbClr val="374151"/>
                </a:solidFill>
                <a:latin typeface="Arial"/>
              </a:rPr>
              <a:t>Manufacturing hubs, MSMEs, e-commerce, and regional suppliers.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Key Project Objectives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1-Click Data Ingestion: </a:t>
            </a:r>
            <a:r>
              <a:rPr b="0" sz="1300">
                <a:solidFill>
                  <a:srgbClr val="374151"/>
                </a:solidFill>
                <a:latin typeface="Arial"/>
              </a:rPr>
              <a:t>Upload standard Excel/JSON files and generate connected graphs instantly.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NLP Incident Radar: </a:t>
            </a:r>
            <a:r>
              <a:rPr b="0" sz="1300">
                <a:solidFill>
                  <a:srgbClr val="374151"/>
                </a:solidFill>
                <a:latin typeface="Arial"/>
              </a:rPr>
              <a:t>Scans trade news and weather alerts using automated entity extraction.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Ripple-Effect Engine: </a:t>
            </a:r>
            <a:r>
              <a:rPr b="0" sz="1300">
                <a:solidFill>
                  <a:srgbClr val="374151"/>
                </a:solidFill>
                <a:latin typeface="Arial"/>
              </a:rPr>
              <a:t>Computes cascade delays, stockout risks, and plant shutdown times.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True Multi-Tenancy: </a:t>
            </a:r>
            <a:r>
              <a:rPr b="0" sz="1300">
                <a:solidFill>
                  <a:srgbClr val="374151"/>
                </a:solidFill>
                <a:latin typeface="Arial"/>
              </a:rPr>
              <a:t>Guarantees 100% private data isolation for every business owner.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Problem Definition &amp; Industry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Current Supply Chain Fragility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Tier-2/3 Blindspots: </a:t>
            </a:r>
            <a:r>
              <a:rPr b="0" sz="1300">
                <a:solidFill>
                  <a:srgbClr val="374151"/>
                </a:solidFill>
                <a:latin typeface="Arial"/>
              </a:rPr>
              <a:t>70%+ of companies only monitor direct Tier-1 suppliers.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Static Spreadsheet Silos: </a:t>
            </a:r>
            <a:r>
              <a:rPr b="0" sz="1300">
                <a:solidFill>
                  <a:srgbClr val="374151"/>
                </a:solidFill>
                <a:latin typeface="Arial"/>
              </a:rPr>
              <a:t>Excel sheets cannot visualize ripple effects or bottlenecks.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Reactive Decision-Making: </a:t>
            </a:r>
            <a:r>
              <a:rPr b="0" sz="1300">
                <a:solidFill>
                  <a:srgbClr val="374151"/>
                </a:solidFill>
                <a:latin typeface="Arial"/>
              </a:rPr>
              <a:t>Companies only learn of crises after factories or trucks stop.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High Cost of Delay: </a:t>
            </a:r>
            <a:r>
              <a:rPr b="0" sz="1300">
                <a:solidFill>
                  <a:srgbClr val="374151"/>
                </a:solidFill>
                <a:latin typeface="Arial"/>
              </a:rPr>
              <a:t>A single missing raw material halts entire production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How AtmoGraph Solves This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The 'Butterfly Effect': </a:t>
            </a:r>
            <a:r>
              <a:rPr b="0" sz="1300">
                <a:solidFill>
                  <a:srgbClr val="374151"/>
                </a:solidFill>
                <a:latin typeface="Arial"/>
              </a:rPr>
              <a:t>Visualizes how a distant strike or flood impacts local delivery.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Noise-Free Intelligence: </a:t>
            </a:r>
            <a:r>
              <a:rPr b="0" sz="1300">
                <a:solidFill>
                  <a:srgbClr val="374151"/>
                </a:solidFill>
                <a:latin typeface="Arial"/>
              </a:rPr>
              <a:t>Filters breaking news down to only your specific vendors.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Smart Alternate Sourcing: </a:t>
            </a:r>
            <a:r>
              <a:rPr b="0" sz="1300">
                <a:solidFill>
                  <a:srgbClr val="374151"/>
                </a:solidFill>
                <a:latin typeface="Arial"/>
              </a:rPr>
              <a:t>Instantly recommends backup suppliers with spare capacity.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Enterprise Privacy: </a:t>
            </a:r>
            <a:r>
              <a:rPr b="0" sz="1300">
                <a:solidFill>
                  <a:srgbClr val="374151"/>
                </a:solidFill>
                <a:latin typeface="Arial"/>
              </a:rPr>
              <a:t>Prevents competitor visibility with strict user data silos.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Motivation &amp; Key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Legacy Systems vs. Modern Needs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Enterprise ERPs (SAP/Oracle): </a:t>
            </a:r>
            <a:r>
              <a:rPr b="0" sz="1300">
                <a:solidFill>
                  <a:srgbClr val="374151"/>
                </a:solidFill>
                <a:latin typeface="Arial"/>
              </a:rPr>
              <a:t>Rigid, multi-million dollar costs, months of setup, zero visual graphs.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Manual Phone Calls: </a:t>
            </a:r>
            <a:r>
              <a:rPr b="0" sz="1300">
                <a:solidFill>
                  <a:srgbClr val="374151"/>
                </a:solidFill>
                <a:latin typeface="Arial"/>
              </a:rPr>
              <a:t>Procurement teams manually call vendors during unexpected emergencies.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No Regional Awareness: </a:t>
            </a:r>
            <a:r>
              <a:rPr b="0" sz="1300">
                <a:solidFill>
                  <a:srgbClr val="374151"/>
                </a:solidFill>
                <a:latin typeface="Arial"/>
              </a:rPr>
              <a:t>Foreign tools lack context for Indian manufacturing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AtmoGraph Innovations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Zero-Configuration Setup: </a:t>
            </a:r>
            <a:r>
              <a:rPr b="0" sz="1300">
                <a:solidFill>
                  <a:srgbClr val="374151"/>
                </a:solidFill>
                <a:latin typeface="Arial"/>
              </a:rPr>
              <a:t>Businesses start instantly by dragging and dropping existing workbooks.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Dual-Engine Simulation: </a:t>
            </a:r>
            <a:r>
              <a:rPr b="0" sz="1300">
                <a:solidFill>
                  <a:srgbClr val="374151"/>
                </a:solidFill>
                <a:latin typeface="Arial"/>
              </a:rPr>
              <a:t>Combines deterministic buffer math with Graph Neural Networks.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Real Indian Clusters: </a:t>
            </a:r>
            <a:r>
              <a:rPr b="0" sz="1300">
                <a:solidFill>
                  <a:srgbClr val="374151"/>
                </a:solidFill>
                <a:latin typeface="Arial"/>
              </a:rPr>
              <a:t>Pre-tuned for regional hubs (Surat textiles, Kannauj oils, Firozabad glass).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System Architecture &amp; 3-Tier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28712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1. Presentation Layer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React 18 + Vite: </a:t>
            </a:r>
            <a:r>
              <a:rPr b="0" sz="1300">
                <a:solidFill>
                  <a:srgbClr val="374151"/>
                </a:solidFill>
                <a:latin typeface="Arial"/>
              </a:rPr>
              <a:t>Ultra-fast Single Page Application.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Cytoscape.js: </a:t>
            </a:r>
            <a:r>
              <a:rPr b="0" sz="1300">
                <a:solidFill>
                  <a:srgbClr val="374151"/>
                </a:solidFill>
                <a:latin typeface="Arial"/>
              </a:rPr>
              <a:t>GPU-accelerated interactive graph rendering.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Workflow Studio: </a:t>
            </a:r>
            <a:r>
              <a:rPr b="0" sz="1300">
                <a:solidFill>
                  <a:srgbClr val="374151"/>
                </a:solidFill>
                <a:latin typeface="Arial"/>
              </a:rPr>
              <a:t>Unified tabs for Predictor, Graph &amp; Simulator.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Auth Guard: </a:t>
            </a:r>
            <a:r>
              <a:rPr b="0" sz="1300">
                <a:solidFill>
                  <a:srgbClr val="374151"/>
                </a:solidFill>
                <a:latin typeface="Arial"/>
              </a:rPr>
              <a:t>Automatic JWT token validation on all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029968"/>
            <a:ext cx="28712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2. Intelligence Engine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FastAPI (Python 3.12): </a:t>
            </a:r>
            <a:r>
              <a:rPr b="0" sz="1300">
                <a:solidFill>
                  <a:srgbClr val="374151"/>
                </a:solidFill>
                <a:latin typeface="Arial"/>
              </a:rPr>
              <a:t>Asynchronous high-throughput REST API.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Ripple Engine: </a:t>
            </a:r>
            <a:r>
              <a:rPr b="0" sz="1300">
                <a:solidFill>
                  <a:srgbClr val="374151"/>
                </a:solidFill>
                <a:latin typeface="Arial"/>
              </a:rPr>
              <a:t>Calculates lead times and buffer depletion.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spaCy NLP: </a:t>
            </a:r>
            <a:r>
              <a:rPr b="0" sz="1300">
                <a:solidFill>
                  <a:srgbClr val="374151"/>
                </a:solidFill>
                <a:latin typeface="Arial"/>
              </a:rPr>
              <a:t>Extracts locations and disruption severities.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PyTorch GNN: </a:t>
            </a:r>
            <a:r>
              <a:rPr b="0" sz="1300">
                <a:solidFill>
                  <a:srgbClr val="374151"/>
                </a:solidFill>
                <a:latin typeface="Arial"/>
              </a:rPr>
              <a:t>Probabilistic impact prediction across nodes.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029968"/>
            <a:ext cx="28712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3. Storage &amp; Isolation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SQLite Relational Core: </a:t>
            </a:r>
            <a:r>
              <a:rPr b="0" sz="1300">
                <a:solidFill>
                  <a:srgbClr val="374151"/>
                </a:solidFill>
                <a:latin typeface="Arial"/>
              </a:rPr>
              <a:t>Structured tables for Users, BOM &amp; Inventory.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Neo4j Graph Database: </a:t>
            </a:r>
            <a:r>
              <a:rPr b="0" sz="1300">
                <a:solidFill>
                  <a:srgbClr val="374151"/>
                </a:solidFill>
                <a:latin typeface="Arial"/>
              </a:rPr>
              <a:t>Multi-hop graph traversal and Cypher queries.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User Partitioning: </a:t>
            </a:r>
            <a:r>
              <a:rPr b="0" sz="1300">
                <a:solidFill>
                  <a:srgbClr val="374151"/>
                </a:solidFill>
                <a:latin typeface="Arial"/>
              </a:rPr>
              <a:t>Strict isolation via authenticated user_id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Core Workflow Studio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1. Ripple Predictor Studio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Executive Overview: </a:t>
            </a:r>
            <a:r>
              <a:rPr b="0" sz="1300">
                <a:solidFill>
                  <a:srgbClr val="374151"/>
                </a:solidFill>
                <a:latin typeface="Arial"/>
              </a:rPr>
              <a:t>Instant business health score and active disruption badges at a glance.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Vulnerability Index: </a:t>
            </a:r>
            <a:r>
              <a:rPr b="0" sz="1300">
                <a:solidFill>
                  <a:srgbClr val="374151"/>
                </a:solidFill>
                <a:latin typeface="Arial"/>
              </a:rPr>
              <a:t>Highlights critical single-source supplier dependencies.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2. Interactive Supply Graph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Visual Topology: </a:t>
            </a:r>
            <a:r>
              <a:rPr b="0" sz="1300">
                <a:solidFill>
                  <a:srgbClr val="374151"/>
                </a:solidFill>
                <a:latin typeface="Arial"/>
              </a:rPr>
              <a:t>Full interactive network map linking Suppliers, Materials, Plants &amp; SKUs.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Node Inspector: </a:t>
            </a:r>
            <a:r>
              <a:rPr b="0" sz="1300">
                <a:solidFill>
                  <a:srgbClr val="374151"/>
                </a:solidFill>
                <a:latin typeface="Arial"/>
              </a:rPr>
              <a:t>Click any node to see lead times, stock levels, and alternate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315968"/>
            <a:ext cx="46085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3. What-If Disruption Simulator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Stress-Test Sandbox: </a:t>
            </a:r>
            <a:r>
              <a:rPr b="0" sz="1300">
                <a:solidFill>
                  <a:srgbClr val="374151"/>
                </a:solidFill>
                <a:latin typeface="Arial"/>
              </a:rPr>
              <a:t>Simulate sudden supplier outages or transport halts with 1 click.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Shock Forecast: </a:t>
            </a:r>
            <a:r>
              <a:rPr b="0" sz="1300">
                <a:solidFill>
                  <a:srgbClr val="374151"/>
                </a:solidFill>
                <a:latin typeface="Arial"/>
              </a:rPr>
              <a:t>Calculates factory downtime, inventory drain, and delay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315968"/>
            <a:ext cx="46085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4. Excel / JSON Ingestion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1-Click Importer: </a:t>
            </a:r>
            <a:r>
              <a:rPr b="0" sz="1300">
                <a:solidFill>
                  <a:srgbClr val="374151"/>
                </a:solidFill>
                <a:latin typeface="Arial"/>
              </a:rPr>
              <a:t>Drag-and-drop spreadsheets with automatic schema verification.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Instant Conversion: </a:t>
            </a:r>
            <a:r>
              <a:rPr b="0" sz="1300">
                <a:solidFill>
                  <a:srgbClr val="374151"/>
                </a:solidFill>
                <a:latin typeface="Arial"/>
              </a:rPr>
              <a:t>Transforms raw tabular rows into a fully connected graph.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Real-Time Disruption Radar &amp; NLP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Incident Radar Scanning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Live Monitoring Feed: </a:t>
            </a:r>
            <a:r>
              <a:rPr b="0" sz="1300">
                <a:solidFill>
                  <a:srgbClr val="374151"/>
                </a:solidFill>
                <a:latin typeface="Arial"/>
              </a:rPr>
              <a:t>Scans trade news bulletins, strike warnings, and port advisories.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Contextual Intelligence: </a:t>
            </a:r>
            <a:r>
              <a:rPr b="0" sz="1300">
                <a:solidFill>
                  <a:srgbClr val="374151"/>
                </a:solidFill>
                <a:latin typeface="Arial"/>
              </a:rPr>
              <a:t>Synthesizes alerts matched specifically to active supplier regions.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Custom Threat Testing: </a:t>
            </a:r>
            <a:r>
              <a:rPr b="0" sz="1300">
                <a:solidFill>
                  <a:srgbClr val="374151"/>
                </a:solidFill>
                <a:latin typeface="Arial"/>
              </a:rPr>
              <a:t>Allows owners to input breaking rumors to test supply resilience.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3-Step NLP Resolution Pipeline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1. Entity Extraction: </a:t>
            </a:r>
            <a:r>
              <a:rPr b="0" sz="1300">
                <a:solidFill>
                  <a:srgbClr val="374151"/>
                </a:solidFill>
                <a:latin typeface="Arial"/>
              </a:rPr>
              <a:t>spaCy parses headlines to extract locations (e.g. 'Kannauj', 'Surat').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2. Fuzzy Entity Resolution: </a:t>
            </a:r>
            <a:r>
              <a:rPr b="0" sz="1300">
                <a:solidFill>
                  <a:srgbClr val="374151"/>
                </a:solidFill>
                <a:latin typeface="Arial"/>
              </a:rPr>
              <a:t>Maps extracted text directly to internal Supplier IDs (S001, S005).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3. Instant Ripple Calculation: </a:t>
            </a:r>
            <a:r>
              <a:rPr b="0" sz="1300">
                <a:solidFill>
                  <a:srgbClr val="374151"/>
                </a:solidFill>
                <a:latin typeface="Arial"/>
              </a:rPr>
              <a:t>Executes shock propagation to predict delivery delay days.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Multi-Tenant Architecture &amp; Data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Strict Privacy Principles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Complete Data Separation: </a:t>
            </a:r>
            <a:r>
              <a:rPr b="0" sz="1300">
                <a:solidFill>
                  <a:srgbClr val="374151"/>
                </a:solidFill>
                <a:latin typeface="Arial"/>
              </a:rPr>
              <a:t>Business A (e.g. AdilQadri) cannot view Business B's (Mohilya) suppliers.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User-Scoped Filtering: </a:t>
            </a:r>
            <a:r>
              <a:rPr b="0" sz="1300">
                <a:solidFill>
                  <a:srgbClr val="374151"/>
                </a:solidFill>
                <a:latin typeface="Arial"/>
              </a:rPr>
              <a:t>Every query across graph, radar, and history is locked to user_id.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Bcrypt Password Hashing: </a:t>
            </a:r>
            <a:r>
              <a:rPr b="0" sz="1300">
                <a:solidFill>
                  <a:srgbClr val="374151"/>
                </a:solidFill>
                <a:latin typeface="Arial"/>
              </a:rPr>
              <a:t>Secure salted hashing prevents plain-text credential leaks.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Session &amp; Access Lifecycle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JWT Session Tokens: </a:t>
            </a:r>
            <a:r>
              <a:rPr b="0" sz="1300">
                <a:solidFill>
                  <a:srgbClr val="374151"/>
                </a:solidFill>
                <a:latin typeface="Arial"/>
              </a:rPr>
              <a:t>Secure HS256 tokens passed via Authorization Bearer headers.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Dedicated Auth Gate: </a:t>
            </a:r>
            <a:r>
              <a:rPr b="0" sz="1300">
                <a:solidFill>
                  <a:srgbClr val="374151"/>
                </a:solidFill>
                <a:latin typeface="Arial"/>
              </a:rPr>
              <a:t>Clean Login and Registration flow with persistent sessions.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1-Click Safe Logout: </a:t>
            </a:r>
            <a:r>
              <a:rPr b="0" sz="1300">
                <a:solidFill>
                  <a:srgbClr val="374151"/>
                </a:solidFill>
                <a:latin typeface="Arial"/>
              </a:rPr>
              <a:t>Instantly wipes local session and restricts unauthorized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Technologies, Tools &amp; Libraries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28712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Frontend Stack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React 18 &amp; TypeScript: </a:t>
            </a:r>
            <a:r>
              <a:rPr b="0" sz="1300">
                <a:solidFill>
                  <a:srgbClr val="374151"/>
                </a:solidFill>
                <a:latin typeface="Arial"/>
              </a:rPr>
              <a:t>Type-safe modular UI components.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Vite 8: </a:t>
            </a:r>
            <a:r>
              <a:rPr b="0" sz="1300">
                <a:solidFill>
                  <a:srgbClr val="374151"/>
                </a:solidFill>
                <a:latin typeface="Arial"/>
              </a:rPr>
              <a:t>High-speed bundling and dev server.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Cytoscape.js: </a:t>
            </a:r>
            <a:r>
              <a:rPr b="0" sz="1300">
                <a:solidFill>
                  <a:srgbClr val="374151"/>
                </a:solidFill>
                <a:latin typeface="Arial"/>
              </a:rPr>
              <a:t>Interactive graph network engine.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Lucide React: </a:t>
            </a:r>
            <a:r>
              <a:rPr b="0" sz="1300">
                <a:solidFill>
                  <a:srgbClr val="374151"/>
                </a:solidFill>
                <a:latin typeface="Arial"/>
              </a:rPr>
              <a:t>Semantic UI vector icons.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029968"/>
            <a:ext cx="28712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Backend Stack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Python 3.12 &amp; FastAPI: </a:t>
            </a:r>
            <a:r>
              <a:rPr b="0" sz="1300">
                <a:solidFill>
                  <a:srgbClr val="374151"/>
                </a:solidFill>
                <a:latin typeface="Arial"/>
              </a:rPr>
              <a:t>Asynchronous, modern REST API.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SQLAlchemy ORM: </a:t>
            </a:r>
            <a:r>
              <a:rPr b="0" sz="1300">
                <a:solidFill>
                  <a:srgbClr val="374151"/>
                </a:solidFill>
                <a:latin typeface="Arial"/>
              </a:rPr>
              <a:t>Relational models and data queries.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OpenPyXL &amp; Pandas: </a:t>
            </a:r>
            <a:r>
              <a:rPr b="0" sz="1300">
                <a:solidFill>
                  <a:srgbClr val="374151"/>
                </a:solidFill>
                <a:latin typeface="Arial"/>
              </a:rPr>
              <a:t>Automated Excel sheet parsing.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Python-Jose &amp; Passlib: </a:t>
            </a:r>
            <a:r>
              <a:rPr b="0" sz="1300">
                <a:solidFill>
                  <a:srgbClr val="374151"/>
                </a:solidFill>
                <a:latin typeface="Arial"/>
              </a:rPr>
              <a:t>JWT encryption and password hashing.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029968"/>
            <a:ext cx="28712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Data &amp; AI Stack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Neo4j Graph Database: </a:t>
            </a:r>
            <a:r>
              <a:rPr b="0" sz="1300">
                <a:solidFill>
                  <a:srgbClr val="374151"/>
                </a:solidFill>
                <a:latin typeface="Arial"/>
              </a:rPr>
              <a:t>Cypher-based property graph queries.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PyTorch Geometric: </a:t>
            </a:r>
            <a:r>
              <a:rPr b="0" sz="1300">
                <a:solidFill>
                  <a:srgbClr val="374151"/>
                </a:solidFill>
                <a:latin typeface="Arial"/>
              </a:rPr>
              <a:t>Graph Neural Network shock models.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spaCy NLP: </a:t>
            </a:r>
            <a:r>
              <a:rPr b="0" sz="1300">
                <a:solidFill>
                  <a:srgbClr val="374151"/>
                </a:solidFill>
                <a:latin typeface="Arial"/>
              </a:rPr>
              <a:t>Named Entity Recognition (NER).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SQLite: </a:t>
            </a:r>
            <a:r>
              <a:rPr b="0" sz="1300">
                <a:solidFill>
                  <a:srgbClr val="374151"/>
                </a:solidFill>
                <a:latin typeface="Arial"/>
              </a:rPr>
              <a:t>Embedded ACID-compliant data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Experimental Results &amp; Live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Case Study 1: AdilQadri Perfumes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Supply Network: </a:t>
            </a:r>
            <a:r>
              <a:rPr b="0" sz="1300">
                <a:solidFill>
                  <a:srgbClr val="374151"/>
                </a:solidFill>
                <a:latin typeface="Arial"/>
              </a:rPr>
              <a:t>8 Suppliers (Kannauj attar, Firozabad glass, Mumbai carrier oils).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Disruption Injected: </a:t>
            </a:r>
            <a:r>
              <a:rPr b="0" sz="1300">
                <a:solidFill>
                  <a:srgbClr val="374151"/>
                </a:solidFill>
                <a:latin typeface="Arial"/>
              </a:rPr>
              <a:t>'Ganga Basin Floods halt Kannauj distillation units.'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System Output: </a:t>
            </a:r>
            <a:r>
              <a:rPr b="0" sz="1300">
                <a:solidFill>
                  <a:srgbClr val="374151"/>
                </a:solidFill>
                <a:latin typeface="Arial"/>
              </a:rPr>
              <a:t>Correctly identified S001 outage; forecasted +7 days delay.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Recommended Action: </a:t>
            </a:r>
            <a:r>
              <a:rPr b="0" sz="1300">
                <a:solidFill>
                  <a:srgbClr val="374151"/>
                </a:solidFill>
                <a:latin typeface="Arial"/>
              </a:rPr>
              <a:t>Rerouted to Mysore Sandalwood (S003) with 35% spare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Case Study 2: Mohilya Couture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Supply Network: </a:t>
            </a:r>
            <a:r>
              <a:rPr b="0" sz="1300">
                <a:solidFill>
                  <a:srgbClr val="374151"/>
                </a:solidFill>
                <a:latin typeface="Arial"/>
              </a:rPr>
              <a:t>10 Textile Suppliers across Surat Ring Road, Pandesara &amp; Sachin GIDC.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Disruption Injected: </a:t>
            </a:r>
            <a:r>
              <a:rPr b="0" sz="1300">
                <a:solidFill>
                  <a:srgbClr val="374151"/>
                </a:solidFill>
                <a:latin typeface="Arial"/>
              </a:rPr>
              <a:t>'Pandesara GIDC Transformer Failure halts dyeing units.'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System Output: </a:t>
            </a:r>
            <a:r>
              <a:rPr b="0" sz="1300">
                <a:solidFill>
                  <a:srgbClr val="374151"/>
                </a:solidFill>
                <a:latin typeface="Arial"/>
              </a:rPr>
              <a:t>Warned that fabric dye buffer would run out in 4 days.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Recommended Action: </a:t>
            </a:r>
            <a:r>
              <a:rPr b="0" sz="1300">
                <a:solidFill>
                  <a:srgbClr val="374151"/>
                </a:solidFill>
                <a:latin typeface="Arial"/>
              </a:rPr>
              <a:t>Rerouted dyeing orders before garment assembly stalled.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Project Timeline &amp; Milestones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Phases 1 - 3: Engine &amp; Pipeline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Weeks 1-3: Research &amp; Design: </a:t>
            </a:r>
            <a:r>
              <a:rPr b="0" sz="1300">
                <a:solidFill>
                  <a:srgbClr val="374151"/>
                </a:solidFill>
                <a:latin typeface="Arial"/>
              </a:rPr>
              <a:t>Surveyed supply chain graph literature and defined data schema.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Weeks 4-6: Graph Database &amp; Importer: </a:t>
            </a:r>
            <a:r>
              <a:rPr b="0" sz="1300">
                <a:solidFill>
                  <a:srgbClr val="374151"/>
                </a:solidFill>
                <a:latin typeface="Arial"/>
              </a:rPr>
              <a:t>Implemented SQLite relational core, Neo4j, and Excel parser.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Weeks 7-9: Simulation &amp; NLP Engine: </a:t>
            </a:r>
            <a:r>
              <a:rPr b="0" sz="1300">
                <a:solidFill>
                  <a:srgbClr val="374151"/>
                </a:solidFill>
                <a:latin typeface="Arial"/>
              </a:rPr>
              <a:t>Built buffer stock math engine and spaCy entity extractor.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Phases 4 - 5: UI &amp; Security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Weeks 10-12: Workflow Studio UI: </a:t>
            </a:r>
            <a:r>
              <a:rPr b="0" sz="1300">
                <a:solidFill>
                  <a:srgbClr val="374151"/>
                </a:solidFill>
                <a:latin typeface="Arial"/>
              </a:rPr>
              <a:t>Built React 18 modules (Predictor, Graph, Simulator, Radar).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Weeks 13-14: Multi-Tenant Auth: </a:t>
            </a:r>
            <a:r>
              <a:rPr b="0" sz="1300">
                <a:solidFill>
                  <a:srgbClr val="374151"/>
                </a:solidFill>
                <a:latin typeface="Arial"/>
              </a:rPr>
              <a:t>Added bcrypt password hashing, JWT sessions, and data isolation.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Week 15: Testing &amp; Documentation: </a:t>
            </a:r>
            <a:r>
              <a:rPr b="0" sz="1300">
                <a:solidFill>
                  <a:srgbClr val="374151"/>
                </a:solidFill>
                <a:latin typeface="Arial"/>
              </a:rPr>
              <a:t>Completed end-to-end testing, bug fixes, and viva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"/>
            <a:ext cx="960120" cy="96012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365760" y="1280160"/>
            <a:ext cx="868680" cy="502920"/>
          </a:xfrm>
          <a:prstGeom prst="chevron">
            <a:avLst/>
          </a:prstGeom>
          <a:solidFill>
            <a:srgbClr val="A61C1C"/>
          </a:solidFill>
          <a:ln>
            <a:solidFill>
              <a:srgbClr val="A6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11430000" cy="36576"/>
          </a:xfrm>
          <a:prstGeom prst="rect">
            <a:avLst/>
          </a:prstGeom>
          <a:solidFill>
            <a:srgbClr val="7E8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A61C1C"/>
                </a:solidFill>
                <a:latin typeface="Arial"/>
              </a:defRPr>
            </a:pPr>
            <a:r>
              <a:t>Conclusion &amp; Key Achievements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From Spreadsheets to Graph: </a:t>
            </a:r>
            <a:r>
              <a:rPr b="0" sz="1300">
                <a:solidFill>
                  <a:srgbClr val="374151"/>
                </a:solidFill>
                <a:latin typeface="Arial"/>
              </a:rPr>
              <a:t>Solved Tier-2/3 visibility blindspots with intuitive graphs.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Real-Time Responsiveness: </a:t>
            </a:r>
            <a:r>
              <a:rPr b="0" sz="1300">
                <a:solidFill>
                  <a:srgbClr val="374151"/>
                </a:solidFill>
                <a:latin typeface="Arial"/>
              </a:rPr>
              <a:t>Processes Excel in &lt; 2.5s and computes ripples in &lt; 350ms.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Accessible to MSMEs: </a:t>
            </a:r>
            <a:r>
              <a:rPr b="0" sz="1300">
                <a:solidFill>
                  <a:srgbClr val="374151"/>
                </a:solidFill>
                <a:latin typeface="Arial"/>
              </a:rPr>
              <a:t>Brings multi-million-dollar supply chain intelligence to everyday businesses.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29968"/>
            <a:ext cx="460857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40AF"/>
                </a:solidFill>
                <a:latin typeface="Arial"/>
              </a:defRPr>
            </a:pPr>
            <a:r>
              <a:t>Future Scope &amp; Key References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IoT Freight Tracking: </a:t>
            </a:r>
            <a:r>
              <a:rPr b="0" sz="1300">
                <a:solidFill>
                  <a:srgbClr val="374151"/>
                </a:solidFill>
                <a:latin typeface="Arial"/>
              </a:rPr>
              <a:t>Integrate live GPS sensors on maritime and truck routes.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Autonomous AI Agents: </a:t>
            </a:r>
            <a:r>
              <a:rPr b="0" sz="1300">
                <a:solidFill>
                  <a:srgbClr val="374151"/>
                </a:solidFill>
                <a:latin typeface="Arial"/>
              </a:rPr>
              <a:t>LLM-powered automated backup supplier negotiation.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11827"/>
                </a:solidFill>
                <a:latin typeface="Arial"/>
              </a:rPr>
              <a:t>• References: </a:t>
            </a:r>
            <a:r>
              <a:rPr b="0" sz="1300">
                <a:solidFill>
                  <a:srgbClr val="374151"/>
                </a:solidFill>
                <a:latin typeface="Arial"/>
              </a:rPr>
              <a:t>1. IEEE Transactions on GNNs in Supply Chain Resilience.
2. Harvard Business Review: Multi-Tier Sourcing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